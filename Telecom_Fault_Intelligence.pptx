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800" b="1">
          <a:solidFill>
            <a:srgbClr val="F1F5F9"/>
          </a:solidFill>
        </a:defRPr>
      </a:lvl1pPr>
    </p:titleStyle>
    <p:bodyStyle>
      <a:lvl1pPr>
        <a:defRPr sz="1800">
          <a:solidFill>
            <a:srgbClr val="F1F5F9"/>
          </a:solidFill>
        </a:defRPr>
      </a:lvl1pPr>
    </p:bodyStyle>
    <p:otherStyle>
      <a:lvl1pPr>
        <a:defRPr>
          <a:solidFill>
            <a:srgbClr val="F1F5F9"/>
          </a:solidFill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3"/>
          <p:cNvSpPr>
            <a:spLocks noGrp="1"/>
          </p:cNvSpPr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4"/>
          <p:cNvSpPr>
            <a:spLocks noGrp="1"/>
          </p:cNvSpPr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5"/>
          <p:cNvSpPr>
            <a:spLocks noGrp="1"/>
          </p:cNvSpPr>
          <p:nvPr/>
        </p:nvSpPr>
        <p:spPr>
          <a:xfrm>
            <a:off x="365760" y="731520"/>
            <a:ext cx="84124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6" name="sp6"/>
          <p:cNvSpPr>
            <a:spLocks noGrp="1"/>
          </p:cNvSpPr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3600" dirty="0" b="1">
                <a:solidFill>
                  <a:srgbClr val="FFFFFF"/>
                </a:solidFill>
                <a:latin typeface="Calibri"/>
              </a:rPr>
              <a:t>Telecom Fault Intelligence System</a:t>
            </a:r>
          </a:p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800" dirty="0">
                <a:solidFill>
                  <a:srgbClr val="94A3B8"/>
                </a:solidFill>
                <a:latin typeface="Calibri"/>
              </a:rPr>
              <a:t>AI-Powered Network Fault Analysis &amp; Resolution Platform</a:t>
            </a:r>
          </a:p>
        </p:txBody>
      </p:sp>
      <p:sp>
        <p:nvSpPr>
          <p:cNvPr id="8" name="rect8"/>
          <p:cNvSpPr>
            <a:spLocks noGrp="1"/>
          </p:cNvSpPr>
          <p:nvPr/>
        </p:nvSpPr>
        <p:spPr>
          <a:xfrm>
            <a:off x="822960" y="2514600"/>
            <a:ext cx="2286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822960" y="2514600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400" dirty="0" b="1">
                <a:solidFill>
                  <a:srgbClr val="3B82F6"/>
                </a:solidFill>
                <a:latin typeface="Calibri"/>
              </a:rPr>
              <a:t>Multi-Agent A2A Workflow</a:t>
            </a:r>
          </a:p>
        </p:txBody>
      </p:sp>
      <p:sp>
        <p:nvSpPr>
          <p:cNvPr id="10" name="rect10"/>
          <p:cNvSpPr>
            <a:spLocks noGrp="1"/>
          </p:cNvSpPr>
          <p:nvPr/>
        </p:nvSpPr>
        <p:spPr>
          <a:xfrm>
            <a:off x="3474720" y="2514600"/>
            <a:ext cx="2286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txBody>
          <a:bodyPr/>
          <a:lstStyle/>
          <a:p/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3474720" y="2514600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400" dirty="0" b="1">
                <a:solidFill>
                  <a:srgbClr val="06B6D4"/>
                </a:solidFill>
                <a:latin typeface="Calibri"/>
              </a:rPr>
              <a:t>Hybrid RAG Pipeline</a:t>
            </a:r>
          </a:p>
        </p:txBody>
      </p:sp>
      <p:sp>
        <p:nvSpPr>
          <p:cNvPr id="12" name="rect12"/>
          <p:cNvSpPr>
            <a:spLocks noGrp="1"/>
          </p:cNvSpPr>
          <p:nvPr/>
        </p:nvSpPr>
        <p:spPr>
          <a:xfrm>
            <a:off x="6126480" y="2514600"/>
            <a:ext cx="2286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6126480" y="2514600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400" dirty="0" b="1">
                <a:solidFill>
                  <a:srgbClr val="22C55E"/>
                </a:solidFill>
                <a:latin typeface="Calibri"/>
              </a:rPr>
              <a:t>Predictive Intelligence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300" dirty="0">
                <a:solidFill>
                  <a:srgbClr val="94A3B8"/>
                </a:solidFill>
                <a:latin typeface="Calibri"/>
              </a:rPr>
              <a:t>Dataset: 500 Telecom Incidents  |  Python 3.10  |  FastAPI  |  React 18</a:t>
            </a:r>
          </a:p>
        </p:txBody>
      </p:sp>
      <p:sp>
        <p:nvSpPr>
          <p:cNvPr id="15" name="sp15"/>
          <p:cNvSpPr>
            <a:spLocks noGrp="1"/>
          </p:cNvSpPr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300" dirty="0">
                <a:solidFill>
                  <a:srgbClr val="94A3B8"/>
                </a:solidFill>
                <a:latin typeface="Calibri"/>
              </a:rPr>
              <a:t>Prodapt  |  Suganya K  | 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3"/>
          <p:cNvSpPr>
            <a:spLocks noGrp="1"/>
          </p:cNvSpPr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4"/>
          <p:cNvSpPr>
            <a:spLocks noGrp="1"/>
          </p:cNvSpPr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2400" dirty="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rect6"/>
          <p:cNvSpPr>
            <a:spLocks noGrp="1"/>
          </p:cNvSpPr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500" dirty="0" b="1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960120" y="987552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500" dirty="0">
                <a:solidFill>
                  <a:srgbClr val="F1F5F9"/>
                </a:solidFill>
                <a:latin typeface="Calibri"/>
              </a:rPr>
              <a:t>Dataset &amp; Problem Statement</a:t>
            </a:r>
          </a:p>
        </p:txBody>
      </p:sp>
      <p:sp>
        <p:nvSpPr>
          <p:cNvPr id="9" name="rect9"/>
          <p:cNvSpPr>
            <a:spLocks noGrp="1"/>
          </p:cNvSpPr>
          <p:nvPr/>
        </p:nvSpPr>
        <p:spPr>
          <a:xfrm>
            <a:off x="365760" y="1664207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txBody>
          <a:bodyPr/>
          <a:lstStyle/>
          <a:p/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365760" y="1664207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500" dirty="0" b="1">
                <a:solidFill>
                  <a:srgbClr val="06B6D4"/>
                </a:solidFill>
                <a:latin typeface="Calibri"/>
              </a:rPr>
              <a:t>02</a:t>
            </a:r>
          </a:p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960120" y="1737359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500" dirty="0">
                <a:solidFill>
                  <a:srgbClr val="F1F5F9"/>
                </a:solidFill>
                <a:latin typeface="Calibri"/>
              </a:rPr>
              <a:t>System Architecture – Two Modes</a:t>
            </a:r>
          </a:p>
        </p:txBody>
      </p:sp>
      <p:sp>
        <p:nvSpPr>
          <p:cNvPr id="12" name="rect12"/>
          <p:cNvSpPr>
            <a:spLocks noGrp="1"/>
          </p:cNvSpPr>
          <p:nvPr/>
        </p:nvSpPr>
        <p:spPr>
          <a:xfrm>
            <a:off x="365760" y="2414015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365760" y="2414015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500" dirty="0" b="1">
                <a:solidFill>
                  <a:srgbClr val="22C55E"/>
                </a:solidFill>
                <a:latin typeface="Calibri"/>
              </a:rPr>
              <a:t>03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960120" y="2487167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500" dirty="0">
                <a:solidFill>
                  <a:srgbClr val="F1F5F9"/>
                </a:solidFill>
                <a:latin typeface="Calibri"/>
              </a:rPr>
              <a:t>Full Data Flow Pipeline</a:t>
            </a:r>
          </a:p>
        </p:txBody>
      </p:sp>
      <p:sp>
        <p:nvSpPr>
          <p:cNvPr id="15" name="rect15"/>
          <p:cNvSpPr>
            <a:spLocks noGrp="1"/>
          </p:cNvSpPr>
          <p:nvPr/>
        </p:nvSpPr>
        <p:spPr>
          <a:xfrm>
            <a:off x="365760" y="3163824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txBody>
          <a:bodyPr/>
          <a:lstStyle/>
          <a:p/>
        </p:txBody>
      </p:sp>
      <p:sp>
        <p:nvSpPr>
          <p:cNvPr id="16" name="sp16"/>
          <p:cNvSpPr>
            <a:spLocks noGrp="1"/>
          </p:cNvSpPr>
          <p:nvPr/>
        </p:nvSpPr>
        <p:spPr>
          <a:xfrm>
            <a:off x="365760" y="316382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500" dirty="0" b="1">
                <a:solidFill>
                  <a:srgbClr val="EAB308"/>
                </a:solidFill>
                <a:latin typeface="Calibri"/>
              </a:rPr>
              <a:t>04</a:t>
            </a:r>
          </a:p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960120" y="3236976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500" dirty="0">
                <a:solidFill>
                  <a:srgbClr val="F1F5F9"/>
                </a:solidFill>
                <a:latin typeface="Calibri"/>
              </a:rPr>
              <a:t>Hybrid Search: BM25 + Vector + RRF</a:t>
            </a:r>
          </a:p>
        </p:txBody>
      </p:sp>
      <p:sp>
        <p:nvSpPr>
          <p:cNvPr id="18" name="rect18"/>
          <p:cNvSpPr>
            <a:spLocks noGrp="1"/>
          </p:cNvSpPr>
          <p:nvPr/>
        </p:nvSpPr>
        <p:spPr>
          <a:xfrm>
            <a:off x="365760" y="3913631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19" name="sp19"/>
          <p:cNvSpPr>
            <a:spLocks noGrp="1"/>
          </p:cNvSpPr>
          <p:nvPr/>
        </p:nvSpPr>
        <p:spPr>
          <a:xfrm>
            <a:off x="365760" y="3913631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500" dirty="0" b="1">
                <a:solidFill>
                  <a:srgbClr val="F97316"/>
                </a:solidFill>
                <a:latin typeface="Calibri"/>
              </a:rPr>
              <a:t>05</a:t>
            </a:r>
          </a:p>
        </p:txBody>
      </p:sp>
      <p:sp>
        <p:nvSpPr>
          <p:cNvPr id="20" name="sp20"/>
          <p:cNvSpPr>
            <a:spLocks noGrp="1"/>
          </p:cNvSpPr>
          <p:nvPr/>
        </p:nvSpPr>
        <p:spPr>
          <a:xfrm>
            <a:off x="960120" y="3986783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500" dirty="0">
                <a:solidFill>
                  <a:srgbClr val="F1F5F9"/>
                </a:solidFill>
                <a:latin typeface="Calibri"/>
              </a:rPr>
              <a:t>Embedding Reranker</a:t>
            </a:r>
          </a:p>
        </p:txBody>
      </p:sp>
      <p:sp>
        <p:nvSpPr>
          <p:cNvPr id="21" name="rect21"/>
          <p:cNvSpPr>
            <a:spLocks noGrp="1"/>
          </p:cNvSpPr>
          <p:nvPr/>
        </p:nvSpPr>
        <p:spPr>
          <a:xfrm>
            <a:off x="4663440" y="914400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22" name="sp22"/>
          <p:cNvSpPr>
            <a:spLocks noGrp="1"/>
          </p:cNvSpPr>
          <p:nvPr/>
        </p:nvSpPr>
        <p:spPr>
          <a:xfrm>
            <a:off x="4663440" y="914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500" dirty="0" b="1">
                <a:solidFill>
                  <a:srgbClr val="3B82F6"/>
                </a:solidFill>
                <a:latin typeface="Calibri"/>
              </a:rPr>
              <a:t>06</a:t>
            </a:r>
          </a:p>
        </p:txBody>
      </p:sp>
      <p:sp>
        <p:nvSpPr>
          <p:cNvPr id="23" name="sp23"/>
          <p:cNvSpPr>
            <a:spLocks noGrp="1"/>
          </p:cNvSpPr>
          <p:nvPr/>
        </p:nvSpPr>
        <p:spPr>
          <a:xfrm>
            <a:off x="5257800" y="987552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500" dirty="0">
                <a:solidFill>
                  <a:srgbClr val="F1F5F9"/>
                </a:solidFill>
                <a:latin typeface="Calibri"/>
              </a:rPr>
              <a:t>A2A Multi-Agent Protocol</a:t>
            </a:r>
          </a:p>
        </p:txBody>
      </p:sp>
      <p:sp>
        <p:nvSpPr>
          <p:cNvPr id="24" name="rect24"/>
          <p:cNvSpPr>
            <a:spLocks noGrp="1"/>
          </p:cNvSpPr>
          <p:nvPr/>
        </p:nvSpPr>
        <p:spPr>
          <a:xfrm>
            <a:off x="4663440" y="1664207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txBody>
          <a:bodyPr/>
          <a:lstStyle/>
          <a:p/>
        </p:txBody>
      </p:sp>
      <p:sp>
        <p:nvSpPr>
          <p:cNvPr id="25" name="sp25"/>
          <p:cNvSpPr>
            <a:spLocks noGrp="1"/>
          </p:cNvSpPr>
          <p:nvPr/>
        </p:nvSpPr>
        <p:spPr>
          <a:xfrm>
            <a:off x="4663440" y="1664207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500" dirty="0" b="1">
                <a:solidFill>
                  <a:srgbClr val="06B6D4"/>
                </a:solidFill>
                <a:latin typeface="Calibri"/>
              </a:rPr>
              <a:t>07</a:t>
            </a:r>
          </a:p>
        </p:txBody>
      </p:sp>
      <p:sp>
        <p:nvSpPr>
          <p:cNvPr id="26" name="sp26"/>
          <p:cNvSpPr>
            <a:spLocks noGrp="1"/>
          </p:cNvSpPr>
          <p:nvPr/>
        </p:nvSpPr>
        <p:spPr>
          <a:xfrm>
            <a:off x="5257800" y="1737359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500" dirty="0">
                <a:solidFill>
                  <a:srgbClr val="F1F5F9"/>
                </a:solidFill>
                <a:latin typeface="Calibri"/>
              </a:rPr>
              <a:t>5-Step Agent Workflow</a:t>
            </a:r>
          </a:p>
        </p:txBody>
      </p:sp>
      <p:sp>
        <p:nvSpPr>
          <p:cNvPr id="27" name="rect27"/>
          <p:cNvSpPr>
            <a:spLocks noGrp="1"/>
          </p:cNvSpPr>
          <p:nvPr/>
        </p:nvSpPr>
        <p:spPr>
          <a:xfrm>
            <a:off x="4663440" y="2414015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8" name="sp28"/>
          <p:cNvSpPr>
            <a:spLocks noGrp="1"/>
          </p:cNvSpPr>
          <p:nvPr/>
        </p:nvSpPr>
        <p:spPr>
          <a:xfrm>
            <a:off x="4663440" y="2414015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500" dirty="0" b="1">
                <a:solidFill>
                  <a:srgbClr val="22C55E"/>
                </a:solidFill>
                <a:latin typeface="Calibri"/>
              </a:rPr>
              <a:t>08</a:t>
            </a:r>
          </a:p>
        </p:txBody>
      </p:sp>
      <p:sp>
        <p:nvSpPr>
          <p:cNvPr id="29" name="sp29"/>
          <p:cNvSpPr>
            <a:spLocks noGrp="1"/>
          </p:cNvSpPr>
          <p:nvPr/>
        </p:nvSpPr>
        <p:spPr>
          <a:xfrm>
            <a:off x="5257800" y="2487167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500" dirty="0">
                <a:solidFill>
                  <a:srgbClr val="F1F5F9"/>
                </a:solidFill>
                <a:latin typeface="Calibri"/>
              </a:rPr>
              <a:t>Token Optimization &amp; Guardrails</a:t>
            </a:r>
          </a:p>
        </p:txBody>
      </p:sp>
      <p:sp>
        <p:nvSpPr>
          <p:cNvPr id="30" name="rect30"/>
          <p:cNvSpPr>
            <a:spLocks noGrp="1"/>
          </p:cNvSpPr>
          <p:nvPr/>
        </p:nvSpPr>
        <p:spPr>
          <a:xfrm>
            <a:off x="4663440" y="3163824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31" name="sp31"/>
          <p:cNvSpPr>
            <a:spLocks noGrp="1"/>
          </p:cNvSpPr>
          <p:nvPr/>
        </p:nvSpPr>
        <p:spPr>
          <a:xfrm>
            <a:off x="4663440" y="316382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500" dirty="0" b="1">
                <a:solidFill>
                  <a:srgbClr val="F97316"/>
                </a:solidFill>
                <a:latin typeface="Calibri"/>
              </a:rPr>
              <a:t>09</a:t>
            </a:r>
          </a:p>
        </p:txBody>
      </p:sp>
      <p:sp>
        <p:nvSpPr>
          <p:cNvPr id="32" name="sp32"/>
          <p:cNvSpPr>
            <a:spLocks noGrp="1"/>
          </p:cNvSpPr>
          <p:nvPr/>
        </p:nvSpPr>
        <p:spPr>
          <a:xfrm>
            <a:off x="5257800" y="3236976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500" dirty="0">
                <a:solidFill>
                  <a:srgbClr val="F1F5F9"/>
                </a:solidFill>
                <a:latin typeface="Calibri"/>
              </a:rPr>
              <a:t>Frontend &amp; Technology Stack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3"/>
          <p:cNvSpPr>
            <a:spLocks noGrp="1"/>
          </p:cNvSpPr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4"/>
          <p:cNvSpPr>
            <a:spLocks noGrp="1"/>
          </p:cNvSpPr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2400" dirty="0" b="1">
                <a:solidFill>
                  <a:srgbClr val="FFFFFF"/>
                </a:solidFill>
                <a:latin typeface="Calibri"/>
              </a:rPr>
              <a:t>Dataset — 500 Real-World Telecom Incidents</a:t>
            </a:r>
          </a:p>
        </p:txBody>
      </p:sp>
      <p:sp>
        <p:nvSpPr>
          <p:cNvPr id="6" name="rect6"/>
          <p:cNvSpPr>
            <a:spLocks noGrp="1"/>
          </p:cNvSpPr>
          <p:nvPr/>
        </p:nvSpPr>
        <p:spPr>
          <a:xfrm>
            <a:off x="274320" y="822960"/>
            <a:ext cx="15087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274320" y="82296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2800" dirty="0" b="1">
                <a:solidFill>
                  <a:srgbClr val="22C55E"/>
                </a:solidFill>
                <a:latin typeface="Calibri"/>
              </a:rPr>
              <a:t>500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274320" y="155448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100" dirty="0">
                <a:solidFill>
                  <a:srgbClr val="94A3B8"/>
                </a:solidFill>
                <a:latin typeface="Calibri"/>
              </a:rPr>
              <a:t>Historical
Incidents</a:t>
            </a:r>
          </a:p>
        </p:txBody>
      </p:sp>
      <p:sp>
        <p:nvSpPr>
          <p:cNvPr id="9" name="rect9"/>
          <p:cNvSpPr>
            <a:spLocks noGrp="1"/>
          </p:cNvSpPr>
          <p:nvPr/>
        </p:nvSpPr>
        <p:spPr>
          <a:xfrm>
            <a:off x="1938528" y="822960"/>
            <a:ext cx="15087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1938528" y="82296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2800" dirty="0" b="1">
                <a:solidFill>
                  <a:srgbClr val="3B82F6"/>
                </a:solidFill>
                <a:latin typeface="Calibri"/>
              </a:rPr>
              <a:t>10</a:t>
            </a:r>
          </a:p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1938528" y="155448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100" dirty="0">
                <a:solidFill>
                  <a:srgbClr val="94A3B8"/>
                </a:solidFill>
                <a:latin typeface="Calibri"/>
              </a:rPr>
              <a:t>Data
Columns</a:t>
            </a:r>
          </a:p>
        </p:txBody>
      </p:sp>
      <p:sp>
        <p:nvSpPr>
          <p:cNvPr id="12" name="rect12"/>
          <p:cNvSpPr>
            <a:spLocks noGrp="1"/>
          </p:cNvSpPr>
          <p:nvPr/>
        </p:nvSpPr>
        <p:spPr>
          <a:xfrm>
            <a:off x="3602736" y="822960"/>
            <a:ext cx="15087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txBody>
          <a:bodyPr/>
          <a:lstStyle/>
          <a:p/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3602736" y="82296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2800" dirty="0" b="1">
                <a:solidFill>
                  <a:srgbClr val="06B6D4"/>
                </a:solidFill>
                <a:latin typeface="Calibri"/>
              </a:rPr>
              <a:t>5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3602736" y="155448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100" dirty="0">
                <a:solidFill>
                  <a:srgbClr val="94A3B8"/>
                </a:solidFill>
                <a:latin typeface="Calibri"/>
              </a:rPr>
              <a:t>Indian
Regions</a:t>
            </a:r>
          </a:p>
        </p:txBody>
      </p:sp>
      <p:sp>
        <p:nvSpPr>
          <p:cNvPr id="15" name="rect15"/>
          <p:cNvSpPr>
            <a:spLocks noGrp="1"/>
          </p:cNvSpPr>
          <p:nvPr/>
        </p:nvSpPr>
        <p:spPr>
          <a:xfrm>
            <a:off x="5266944" y="822960"/>
            <a:ext cx="15087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txBody>
          <a:bodyPr/>
          <a:lstStyle/>
          <a:p/>
        </p:txBody>
      </p:sp>
      <p:sp>
        <p:nvSpPr>
          <p:cNvPr id="16" name="sp16"/>
          <p:cNvSpPr>
            <a:spLocks noGrp="1"/>
          </p:cNvSpPr>
          <p:nvPr/>
        </p:nvSpPr>
        <p:spPr>
          <a:xfrm>
            <a:off x="5266944" y="82296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2800" dirty="0" b="1">
                <a:solidFill>
                  <a:srgbClr val="EAB308"/>
                </a:solidFill>
                <a:latin typeface="Calibri"/>
              </a:rPr>
              <a:t>6</a:t>
            </a:r>
          </a:p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5266944" y="155448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100" dirty="0">
                <a:solidFill>
                  <a:srgbClr val="94A3B8"/>
                </a:solidFill>
                <a:latin typeface="Calibri"/>
              </a:rPr>
              <a:t>Technologies</a:t>
            </a:r>
          </a:p>
        </p:txBody>
      </p:sp>
      <p:sp>
        <p:nvSpPr>
          <p:cNvPr id="18" name="rect18"/>
          <p:cNvSpPr>
            <a:spLocks noGrp="1"/>
          </p:cNvSpPr>
          <p:nvPr/>
        </p:nvSpPr>
        <p:spPr>
          <a:xfrm>
            <a:off x="6931152" y="822960"/>
            <a:ext cx="15087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19" name="sp19"/>
          <p:cNvSpPr>
            <a:spLocks noGrp="1"/>
          </p:cNvSpPr>
          <p:nvPr/>
        </p:nvSpPr>
        <p:spPr>
          <a:xfrm>
            <a:off x="6931152" y="82296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2800" dirty="0" b="1">
                <a:solidFill>
                  <a:srgbClr val="F97316"/>
                </a:solidFill>
                <a:latin typeface="Calibri"/>
              </a:rPr>
              <a:t>6</a:t>
            </a:r>
          </a:p>
        </p:txBody>
      </p:sp>
      <p:sp>
        <p:nvSpPr>
          <p:cNvPr id="20" name="sp20"/>
          <p:cNvSpPr>
            <a:spLocks noGrp="1"/>
          </p:cNvSpPr>
          <p:nvPr/>
        </p:nvSpPr>
        <p:spPr>
          <a:xfrm>
            <a:off x="6931152" y="155448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100" dirty="0">
                <a:solidFill>
                  <a:srgbClr val="94A3B8"/>
                </a:solidFill>
                <a:latin typeface="Calibri"/>
              </a:rPr>
              <a:t>Vendors</a:t>
            </a:r>
          </a:p>
        </p:txBody>
      </p:sp>
      <p:sp>
        <p:nvSpPr>
          <p:cNvPr id="21" name="sp21"/>
          <p:cNvSpPr>
            <a:spLocks noGrp="1"/>
          </p:cNvSpPr>
          <p:nvPr/>
        </p:nvSpPr>
        <p:spPr>
          <a:xfrm>
            <a:off x="365760" y="21031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3B82F6"/>
                </a:solidFill>
                <a:latin typeface="Calibri"/>
              </a:rPr>
              <a:t>Dataset Columns</a:t>
            </a:r>
          </a:p>
        </p:txBody>
      </p:sp>
      <p:sp>
        <p:nvSpPr>
          <p:cNvPr id="22" name="rect22"/>
          <p:cNvSpPr>
            <a:spLocks noGrp="1"/>
          </p:cNvSpPr>
          <p:nvPr/>
        </p:nvSpPr>
        <p:spPr>
          <a:xfrm>
            <a:off x="365760" y="2487168"/>
            <a:ext cx="19202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3" name="sp23"/>
          <p:cNvSpPr>
            <a:spLocks noGrp="1"/>
          </p:cNvSpPr>
          <p:nvPr/>
        </p:nvSpPr>
        <p:spPr>
          <a:xfrm>
            <a:off x="365760" y="248716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 b="1">
                <a:solidFill>
                  <a:srgbClr val="06B6D4"/>
                </a:solidFill>
                <a:latin typeface="Calibri"/>
              </a:rPr>
              <a:t>alarm_id</a:t>
            </a:r>
          </a:p>
        </p:txBody>
      </p:sp>
      <p:sp>
        <p:nvSpPr>
          <p:cNvPr id="24" name="sp24"/>
          <p:cNvSpPr>
            <a:spLocks noGrp="1"/>
          </p:cNvSpPr>
          <p:nvPr/>
        </p:nvSpPr>
        <p:spPr>
          <a:xfrm>
            <a:off x="2377440" y="2487168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Unique incident identifier</a:t>
            </a:r>
          </a:p>
        </p:txBody>
      </p:sp>
      <p:sp>
        <p:nvSpPr>
          <p:cNvPr id="25" name="rect25"/>
          <p:cNvSpPr>
            <a:spLocks noGrp="1"/>
          </p:cNvSpPr>
          <p:nvPr/>
        </p:nvSpPr>
        <p:spPr>
          <a:xfrm>
            <a:off x="365760" y="2724912"/>
            <a:ext cx="19202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6" name="sp26"/>
          <p:cNvSpPr>
            <a:spLocks noGrp="1"/>
          </p:cNvSpPr>
          <p:nvPr/>
        </p:nvSpPr>
        <p:spPr>
          <a:xfrm>
            <a:off x="365760" y="2724912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 b="1">
                <a:solidFill>
                  <a:srgbClr val="06B6D4"/>
                </a:solidFill>
                <a:latin typeface="Calibri"/>
              </a:rPr>
              <a:t>incident_description</a:t>
            </a:r>
          </a:p>
        </p:txBody>
      </p:sp>
      <p:sp>
        <p:nvSpPr>
          <p:cNvPr id="27" name="sp27"/>
          <p:cNvSpPr>
            <a:spLocks noGrp="1"/>
          </p:cNvSpPr>
          <p:nvPr/>
        </p:nvSpPr>
        <p:spPr>
          <a:xfrm>
            <a:off x="2377440" y="2724912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Natural-language fault description</a:t>
            </a:r>
          </a:p>
        </p:txBody>
      </p:sp>
      <p:sp>
        <p:nvSpPr>
          <p:cNvPr id="28" name="rect28"/>
          <p:cNvSpPr>
            <a:spLocks noGrp="1"/>
          </p:cNvSpPr>
          <p:nvPr/>
        </p:nvSpPr>
        <p:spPr>
          <a:xfrm>
            <a:off x="365760" y="2962656"/>
            <a:ext cx="19202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9" name="sp29"/>
          <p:cNvSpPr>
            <a:spLocks noGrp="1"/>
          </p:cNvSpPr>
          <p:nvPr/>
        </p:nvSpPr>
        <p:spPr>
          <a:xfrm>
            <a:off x="365760" y="296265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 b="1">
                <a:solidFill>
                  <a:srgbClr val="06B6D4"/>
                </a:solidFill>
                <a:latin typeface="Calibri"/>
              </a:rPr>
              <a:t>network_region</a:t>
            </a:r>
          </a:p>
        </p:txBody>
      </p:sp>
      <p:sp>
        <p:nvSpPr>
          <p:cNvPr id="30" name="sp30"/>
          <p:cNvSpPr>
            <a:spLocks noGrp="1"/>
          </p:cNvSpPr>
          <p:nvPr/>
        </p:nvSpPr>
        <p:spPr>
          <a:xfrm>
            <a:off x="2377440" y="2962656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5 Indian geographic zones</a:t>
            </a:r>
          </a:p>
        </p:txBody>
      </p:sp>
      <p:sp>
        <p:nvSpPr>
          <p:cNvPr id="31" name="rect31"/>
          <p:cNvSpPr>
            <a:spLocks noGrp="1"/>
          </p:cNvSpPr>
          <p:nvPr/>
        </p:nvSpPr>
        <p:spPr>
          <a:xfrm>
            <a:off x="365760" y="3200400"/>
            <a:ext cx="19202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32" name="sp32"/>
          <p:cNvSpPr>
            <a:spLocks noGrp="1"/>
          </p:cNvSpPr>
          <p:nvPr/>
        </p:nvSpPr>
        <p:spPr>
          <a:xfrm>
            <a:off x="365760" y="320040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 b="1">
                <a:solidFill>
                  <a:srgbClr val="06B6D4"/>
                </a:solidFill>
                <a:latin typeface="Calibri"/>
              </a:rPr>
              <a:t>technology_type</a:t>
            </a:r>
          </a:p>
        </p:txBody>
      </p:sp>
      <p:sp>
        <p:nvSpPr>
          <p:cNvPr id="33" name="sp33"/>
          <p:cNvSpPr>
            <a:spLocks noGrp="1"/>
          </p:cNvSpPr>
          <p:nvPr/>
        </p:nvSpPr>
        <p:spPr>
          <a:xfrm>
            <a:off x="2377440" y="3200400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5G / 4G / LTE / GSM / Fiber / Microwave</a:t>
            </a:r>
          </a:p>
        </p:txBody>
      </p:sp>
      <p:sp>
        <p:nvSpPr>
          <p:cNvPr id="34" name="rect34"/>
          <p:cNvSpPr>
            <a:spLocks noGrp="1"/>
          </p:cNvSpPr>
          <p:nvPr/>
        </p:nvSpPr>
        <p:spPr>
          <a:xfrm>
            <a:off x="365760" y="3438144"/>
            <a:ext cx="19202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35" name="sp35"/>
          <p:cNvSpPr>
            <a:spLocks noGrp="1"/>
          </p:cNvSpPr>
          <p:nvPr/>
        </p:nvSpPr>
        <p:spPr>
          <a:xfrm>
            <a:off x="365760" y="343814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 b="1">
                <a:solidFill>
                  <a:srgbClr val="06B6D4"/>
                </a:solidFill>
                <a:latin typeface="Calibri"/>
              </a:rPr>
              <a:t>severity</a:t>
            </a:r>
          </a:p>
        </p:txBody>
      </p:sp>
      <p:sp>
        <p:nvSpPr>
          <p:cNvPr id="36" name="sp36"/>
          <p:cNvSpPr>
            <a:spLocks noGrp="1"/>
          </p:cNvSpPr>
          <p:nvPr/>
        </p:nvSpPr>
        <p:spPr>
          <a:xfrm>
            <a:off x="2377440" y="3438144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critical / high / medium / low / info</a:t>
            </a:r>
          </a:p>
        </p:txBody>
      </p:sp>
      <p:sp>
        <p:nvSpPr>
          <p:cNvPr id="37" name="rect37"/>
          <p:cNvSpPr>
            <a:spLocks noGrp="1"/>
          </p:cNvSpPr>
          <p:nvPr/>
        </p:nvSpPr>
        <p:spPr>
          <a:xfrm>
            <a:off x="365760" y="3675888"/>
            <a:ext cx="19202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38" name="sp38"/>
          <p:cNvSpPr>
            <a:spLocks noGrp="1"/>
          </p:cNvSpPr>
          <p:nvPr/>
        </p:nvSpPr>
        <p:spPr>
          <a:xfrm>
            <a:off x="365760" y="367588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 b="1">
                <a:solidFill>
                  <a:srgbClr val="06B6D4"/>
                </a:solidFill>
                <a:latin typeface="Calibri"/>
              </a:rPr>
              <a:t>outage_duration</a:t>
            </a:r>
          </a:p>
        </p:txBody>
      </p:sp>
      <p:sp>
        <p:nvSpPr>
          <p:cNvPr id="39" name="sp39"/>
          <p:cNvSpPr>
            <a:spLocks noGrp="1"/>
          </p:cNvSpPr>
          <p:nvPr/>
        </p:nvSpPr>
        <p:spPr>
          <a:xfrm>
            <a:off x="2377440" y="3675888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Minutes of service disruption</a:t>
            </a:r>
          </a:p>
        </p:txBody>
      </p:sp>
      <p:sp>
        <p:nvSpPr>
          <p:cNvPr id="40" name="rect40"/>
          <p:cNvSpPr>
            <a:spLocks noGrp="1"/>
          </p:cNvSpPr>
          <p:nvPr/>
        </p:nvSpPr>
        <p:spPr>
          <a:xfrm>
            <a:off x="365760" y="3913632"/>
            <a:ext cx="19202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41" name="sp41"/>
          <p:cNvSpPr>
            <a:spLocks noGrp="1"/>
          </p:cNvSpPr>
          <p:nvPr/>
        </p:nvSpPr>
        <p:spPr>
          <a:xfrm>
            <a:off x="365760" y="3913632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 b="1">
                <a:solidFill>
                  <a:srgbClr val="06B6D4"/>
                </a:solidFill>
                <a:latin typeface="Calibri"/>
              </a:rPr>
              <a:t>device_vendor</a:t>
            </a:r>
          </a:p>
        </p:txBody>
      </p:sp>
      <p:sp>
        <p:nvSpPr>
          <p:cNvPr id="42" name="sp42"/>
          <p:cNvSpPr>
            <a:spLocks noGrp="1"/>
          </p:cNvSpPr>
          <p:nvPr/>
        </p:nvSpPr>
        <p:spPr>
          <a:xfrm>
            <a:off x="2377440" y="3913632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Ericsson / Nokia / Huawei / Cisco / Juniper / Samsung</a:t>
            </a:r>
          </a:p>
        </p:txBody>
      </p:sp>
      <p:sp>
        <p:nvSpPr>
          <p:cNvPr id="43" name="rect43"/>
          <p:cNvSpPr>
            <a:spLocks noGrp="1"/>
          </p:cNvSpPr>
          <p:nvPr/>
        </p:nvSpPr>
        <p:spPr>
          <a:xfrm>
            <a:off x="365760" y="4151376"/>
            <a:ext cx="19202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44" name="sp44"/>
          <p:cNvSpPr>
            <a:spLocks noGrp="1"/>
          </p:cNvSpPr>
          <p:nvPr/>
        </p:nvSpPr>
        <p:spPr>
          <a:xfrm>
            <a:off x="365760" y="415137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 b="1">
                <a:solidFill>
                  <a:srgbClr val="06B6D4"/>
                </a:solidFill>
                <a:latin typeface="Calibri"/>
              </a:rPr>
              <a:t>resolution_notes</a:t>
            </a:r>
          </a:p>
        </p:txBody>
      </p:sp>
      <p:sp>
        <p:nvSpPr>
          <p:cNvPr id="45" name="sp45"/>
          <p:cNvSpPr>
            <a:spLocks noGrp="1"/>
          </p:cNvSpPr>
          <p:nvPr/>
        </p:nvSpPr>
        <p:spPr>
          <a:xfrm>
            <a:off x="2377440" y="4151376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How the incident was resolved</a:t>
            </a:r>
          </a:p>
        </p:txBody>
      </p:sp>
      <p:sp>
        <p:nvSpPr>
          <p:cNvPr id="46" name="rect46"/>
          <p:cNvSpPr>
            <a:spLocks noGrp="1"/>
          </p:cNvSpPr>
          <p:nvPr/>
        </p:nvSpPr>
        <p:spPr>
          <a:xfrm>
            <a:off x="365760" y="4389120"/>
            <a:ext cx="19202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47" name="sp47"/>
          <p:cNvSpPr>
            <a:spLocks noGrp="1"/>
          </p:cNvSpPr>
          <p:nvPr/>
        </p:nvSpPr>
        <p:spPr>
          <a:xfrm>
            <a:off x="365760" y="438912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 b="1">
                <a:solidFill>
                  <a:srgbClr val="06B6D4"/>
                </a:solidFill>
                <a:latin typeface="Calibri"/>
              </a:rPr>
              <a:t>timestamp</a:t>
            </a:r>
          </a:p>
        </p:txBody>
      </p:sp>
      <p:sp>
        <p:nvSpPr>
          <p:cNvPr id="48" name="sp48"/>
          <p:cNvSpPr>
            <a:spLocks noGrp="1"/>
          </p:cNvSpPr>
          <p:nvPr/>
        </p:nvSpPr>
        <p:spPr>
          <a:xfrm>
            <a:off x="2377440" y="4389120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Date and time of incident</a:t>
            </a:r>
          </a:p>
        </p:txBody>
      </p:sp>
      <p:sp>
        <p:nvSpPr>
          <p:cNvPr id="49" name="rect49"/>
          <p:cNvSpPr>
            <a:spLocks noGrp="1"/>
          </p:cNvSpPr>
          <p:nvPr/>
        </p:nvSpPr>
        <p:spPr>
          <a:xfrm>
            <a:off x="365760" y="4626864"/>
            <a:ext cx="19202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50" name="sp50"/>
          <p:cNvSpPr>
            <a:spLocks noGrp="1"/>
          </p:cNvSpPr>
          <p:nvPr/>
        </p:nvSpPr>
        <p:spPr>
          <a:xfrm>
            <a:off x="365760" y="462686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 b="1">
                <a:solidFill>
                  <a:srgbClr val="06B6D4"/>
                </a:solidFill>
                <a:latin typeface="Calibri"/>
              </a:rPr>
              <a:t>service_impact</a:t>
            </a:r>
          </a:p>
        </p:txBody>
      </p:sp>
      <p:sp>
        <p:nvSpPr>
          <p:cNvPr id="51" name="sp51"/>
          <p:cNvSpPr>
            <a:spLocks noGrp="1"/>
          </p:cNvSpPr>
          <p:nvPr/>
        </p:nvSpPr>
        <p:spPr>
          <a:xfrm>
            <a:off x="2377440" y="4626864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Service affected (voice / data / SMS …)</a:t>
            </a:r>
          </a:p>
        </p:txBody>
      </p:sp>
      <p:sp>
        <p:nvSpPr>
          <p:cNvPr id="52" name="sp52"/>
          <p:cNvSpPr>
            <a:spLocks noGrp="1"/>
          </p:cNvSpPr>
          <p:nvPr/>
        </p:nvSpPr>
        <p:spPr>
          <a:xfrm>
            <a:off x="6309360" y="21031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EAB308"/>
                </a:solidFill>
                <a:latin typeface="Calibri"/>
              </a:rPr>
              <a:t>Sample Record</a:t>
            </a:r>
          </a:p>
        </p:txBody>
      </p:sp>
      <p:sp>
        <p:nvSpPr>
          <p:cNvPr id="53" name="sp53"/>
          <p:cNvSpPr>
            <a:spLocks noGrp="1"/>
          </p:cNvSpPr>
          <p:nvPr/>
        </p:nvSpPr>
        <p:spPr>
          <a:xfrm>
            <a:off x="6309360" y="248716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94A3B8"/>
                </a:solidFill>
                <a:latin typeface="Calibri"/>
              </a:rPr>
              <a:t>Alarm ID:</a:t>
            </a:r>
          </a:p>
        </p:txBody>
      </p:sp>
      <p:sp>
        <p:nvSpPr>
          <p:cNvPr id="54" name="sp54"/>
          <p:cNvSpPr>
            <a:spLocks noGrp="1"/>
          </p:cNvSpPr>
          <p:nvPr/>
        </p:nvSpPr>
        <p:spPr>
          <a:xfrm>
            <a:off x="7360920" y="248716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ALM_000042</a:t>
            </a:r>
          </a:p>
        </p:txBody>
      </p:sp>
      <p:sp>
        <p:nvSpPr>
          <p:cNvPr id="55" name="sp55"/>
          <p:cNvSpPr>
            <a:spLocks noGrp="1"/>
          </p:cNvSpPr>
          <p:nvPr/>
        </p:nvSpPr>
        <p:spPr>
          <a:xfrm>
            <a:off x="6309360" y="27980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94A3B8"/>
                </a:solidFill>
                <a:latin typeface="Calibri"/>
              </a:rPr>
              <a:t>Region:</a:t>
            </a:r>
          </a:p>
        </p:txBody>
      </p:sp>
      <p:sp>
        <p:nvSpPr>
          <p:cNvPr id="56" name="sp56"/>
          <p:cNvSpPr>
            <a:spLocks noGrp="1"/>
          </p:cNvSpPr>
          <p:nvPr/>
        </p:nvSpPr>
        <p:spPr>
          <a:xfrm>
            <a:off x="7360920" y="27980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North India</a:t>
            </a:r>
          </a:p>
        </p:txBody>
      </p:sp>
      <p:sp>
        <p:nvSpPr>
          <p:cNvPr id="57" name="sp57"/>
          <p:cNvSpPr>
            <a:spLocks noGrp="1"/>
          </p:cNvSpPr>
          <p:nvPr/>
        </p:nvSpPr>
        <p:spPr>
          <a:xfrm>
            <a:off x="6309360" y="310896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94A3B8"/>
                </a:solidFill>
                <a:latin typeface="Calibri"/>
              </a:rPr>
              <a:t>Technology:</a:t>
            </a:r>
          </a:p>
        </p:txBody>
      </p:sp>
      <p:sp>
        <p:nvSpPr>
          <p:cNvPr id="58" name="sp58"/>
          <p:cNvSpPr>
            <a:spLocks noGrp="1"/>
          </p:cNvSpPr>
          <p:nvPr/>
        </p:nvSpPr>
        <p:spPr>
          <a:xfrm>
            <a:off x="7360920" y="31089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5G</a:t>
            </a:r>
          </a:p>
        </p:txBody>
      </p:sp>
      <p:sp>
        <p:nvSpPr>
          <p:cNvPr id="59" name="sp59"/>
          <p:cNvSpPr>
            <a:spLocks noGrp="1"/>
          </p:cNvSpPr>
          <p:nvPr/>
        </p:nvSpPr>
        <p:spPr>
          <a:xfrm>
            <a:off x="6309360" y="341985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94A3B8"/>
                </a:solidFill>
                <a:latin typeface="Calibri"/>
              </a:rPr>
              <a:t>Severity:</a:t>
            </a:r>
          </a:p>
        </p:txBody>
      </p:sp>
      <p:sp>
        <p:nvSpPr>
          <p:cNvPr id="60" name="sp60"/>
          <p:cNvSpPr>
            <a:spLocks noGrp="1"/>
          </p:cNvSpPr>
          <p:nvPr/>
        </p:nvSpPr>
        <p:spPr>
          <a:xfrm>
            <a:off x="7360920" y="341985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Critical</a:t>
            </a:r>
          </a:p>
        </p:txBody>
      </p:sp>
      <p:sp>
        <p:nvSpPr>
          <p:cNvPr id="61" name="sp61"/>
          <p:cNvSpPr>
            <a:spLocks noGrp="1"/>
          </p:cNvSpPr>
          <p:nvPr/>
        </p:nvSpPr>
        <p:spPr>
          <a:xfrm>
            <a:off x="6309360" y="373075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94A3B8"/>
                </a:solidFill>
                <a:latin typeface="Calibri"/>
              </a:rPr>
              <a:t>Vendor:</a:t>
            </a:r>
          </a:p>
        </p:txBody>
      </p:sp>
      <p:sp>
        <p:nvSpPr>
          <p:cNvPr id="62" name="sp62"/>
          <p:cNvSpPr>
            <a:spLocks noGrp="1"/>
          </p:cNvSpPr>
          <p:nvPr/>
        </p:nvSpPr>
        <p:spPr>
          <a:xfrm>
            <a:off x="7360920" y="37307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Ericsson</a:t>
            </a:r>
          </a:p>
        </p:txBody>
      </p:sp>
      <p:sp>
        <p:nvSpPr>
          <p:cNvPr id="63" name="sp63"/>
          <p:cNvSpPr>
            <a:spLocks noGrp="1"/>
          </p:cNvSpPr>
          <p:nvPr/>
        </p:nvSpPr>
        <p:spPr>
          <a:xfrm>
            <a:off x="6309360" y="40416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94A3B8"/>
                </a:solidFill>
                <a:latin typeface="Calibri"/>
              </a:rPr>
              <a:t>Duration:</a:t>
            </a:r>
          </a:p>
        </p:txBody>
      </p:sp>
      <p:sp>
        <p:nvSpPr>
          <p:cNvPr id="64" name="sp64"/>
          <p:cNvSpPr>
            <a:spLocks noGrp="1"/>
          </p:cNvSpPr>
          <p:nvPr/>
        </p:nvSpPr>
        <p:spPr>
          <a:xfrm>
            <a:off x="7360920" y="4041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87 minutes</a:t>
            </a:r>
          </a:p>
        </p:txBody>
      </p:sp>
      <p:sp>
        <p:nvSpPr>
          <p:cNvPr id="65" name="sp65"/>
          <p:cNvSpPr>
            <a:spLocks noGrp="1"/>
          </p:cNvSpPr>
          <p:nvPr/>
        </p:nvSpPr>
        <p:spPr>
          <a:xfrm>
            <a:off x="6309360" y="435254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94A3B8"/>
                </a:solidFill>
                <a:latin typeface="Calibri"/>
              </a:rPr>
              <a:t>Impact:</a:t>
            </a:r>
          </a:p>
        </p:txBody>
      </p:sp>
      <p:sp>
        <p:nvSpPr>
          <p:cNvPr id="66" name="sp66"/>
          <p:cNvSpPr>
            <a:spLocks noGrp="1"/>
          </p:cNvSpPr>
          <p:nvPr/>
        </p:nvSpPr>
        <p:spPr>
          <a:xfrm>
            <a:off x="7360920" y="435254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Data service loss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3"/>
          <p:cNvSpPr>
            <a:spLocks noGrp="1"/>
          </p:cNvSpPr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4"/>
          <p:cNvSpPr>
            <a:spLocks noGrp="1"/>
          </p:cNvSpPr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2400" dirty="0" b="1">
                <a:solidFill>
                  <a:srgbClr val="FFFFFF"/>
                </a:solidFill>
                <a:latin typeface="Calibri"/>
              </a:rPr>
              <a:t>System Architecture — Two Operating Modes</a:t>
            </a:r>
          </a:p>
        </p:txBody>
      </p:sp>
      <p:sp>
        <p:nvSpPr>
          <p:cNvPr id="6" name="rect6"/>
          <p:cNvSpPr>
            <a:spLocks noGrp="1"/>
          </p:cNvSpPr>
          <p:nvPr/>
        </p:nvSpPr>
        <p:spPr>
          <a:xfrm>
            <a:off x="274320" y="822960"/>
            <a:ext cx="384048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457200" y="9144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400" dirty="0" b="1">
                <a:solidFill>
                  <a:srgbClr val="3B82F6"/>
                </a:solidFill>
                <a:latin typeface="Calibri"/>
              </a:rPr>
              <a:t>AI MODE  (OpenAI API key present)</a:t>
            </a:r>
          </a:p>
        </p:txBody>
      </p:sp>
      <p:sp>
        <p:nvSpPr>
          <p:cNvPr id="8" name="rect8"/>
          <p:cNvSpPr>
            <a:spLocks noGrp="1"/>
          </p:cNvSpPr>
          <p:nvPr/>
        </p:nvSpPr>
        <p:spPr>
          <a:xfrm>
            <a:off x="457200" y="1417320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548640" y="141732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 b="1">
                <a:solidFill>
                  <a:srgbClr val="3B82F6"/>
                </a:solidFill>
                <a:latin typeface="Calibri"/>
              </a:rPr>
              <a:t>User Query (natural language)</a:t>
            </a:r>
          </a:p>
        </p:txBody>
      </p:sp>
      <p:sp>
        <p:nvSpPr>
          <p:cNvPr id="10" name="rect10"/>
          <p:cNvSpPr>
            <a:spLocks noGrp="1"/>
          </p:cNvSpPr>
          <p:nvPr/>
        </p:nvSpPr>
        <p:spPr>
          <a:xfrm>
            <a:off x="457200" y="1764792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548640" y="1764792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94A3B8"/>
                </a:solidFill>
                <a:latin typeface="Calibri"/>
              </a:rPr>
              <a:t>Input Guardrails</a:t>
            </a:r>
          </a:p>
        </p:txBody>
      </p:sp>
      <p:sp>
        <p:nvSpPr>
          <p:cNvPr id="12" name="rect12"/>
          <p:cNvSpPr>
            <a:spLocks noGrp="1"/>
          </p:cNvSpPr>
          <p:nvPr/>
        </p:nvSpPr>
        <p:spPr>
          <a:xfrm>
            <a:off x="457200" y="2112264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548640" y="2112264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EAB308"/>
                </a:solidFill>
                <a:latin typeface="Calibri"/>
              </a:rPr>
              <a:t>Token Optimizer (tiktoken)</a:t>
            </a:r>
          </a:p>
        </p:txBody>
      </p:sp>
      <p:sp>
        <p:nvSpPr>
          <p:cNvPr id="14" name="rect14"/>
          <p:cNvSpPr>
            <a:spLocks noGrp="1"/>
          </p:cNvSpPr>
          <p:nvPr/>
        </p:nvSpPr>
        <p:spPr>
          <a:xfrm>
            <a:off x="457200" y="2459736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5" name="sp15"/>
          <p:cNvSpPr>
            <a:spLocks noGrp="1"/>
          </p:cNvSpPr>
          <p:nvPr/>
        </p:nvSpPr>
        <p:spPr>
          <a:xfrm>
            <a:off x="548640" y="2459736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06B6D4"/>
                </a:solidFill>
                <a:latin typeface="Calibri"/>
              </a:rPr>
              <a:t>Hybrid Search  BM25 + Vector</a:t>
            </a:r>
          </a:p>
        </p:txBody>
      </p:sp>
      <p:sp>
        <p:nvSpPr>
          <p:cNvPr id="16" name="rect16"/>
          <p:cNvSpPr>
            <a:spLocks noGrp="1"/>
          </p:cNvSpPr>
          <p:nvPr/>
        </p:nvSpPr>
        <p:spPr>
          <a:xfrm>
            <a:off x="457200" y="2807208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548640" y="2807208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F97316"/>
                </a:solidFill>
                <a:latin typeface="Calibri"/>
              </a:rPr>
              <a:t>Embedding Reranker  65/35 blend</a:t>
            </a:r>
          </a:p>
        </p:txBody>
      </p:sp>
      <p:sp>
        <p:nvSpPr>
          <p:cNvPr id="18" name="rect18"/>
          <p:cNvSpPr>
            <a:spLocks noGrp="1"/>
          </p:cNvSpPr>
          <p:nvPr/>
        </p:nvSpPr>
        <p:spPr>
          <a:xfrm>
            <a:off x="457200" y="3154680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19" name="sp19"/>
          <p:cNvSpPr>
            <a:spLocks noGrp="1"/>
          </p:cNvSpPr>
          <p:nvPr/>
        </p:nvSpPr>
        <p:spPr>
          <a:xfrm>
            <a:off x="548640" y="315468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3B82F6"/>
                </a:solidFill>
                <a:latin typeface="Calibri"/>
              </a:rPr>
              <a:t>A2A Multi-Agent Workflow:</a:t>
            </a:r>
          </a:p>
        </p:txBody>
      </p:sp>
      <p:sp>
        <p:nvSpPr>
          <p:cNvPr id="20" name="sp20"/>
          <p:cNvSpPr>
            <a:spLocks noGrp="1"/>
          </p:cNvSpPr>
          <p:nvPr/>
        </p:nvSpPr>
        <p:spPr>
          <a:xfrm>
            <a:off x="548640" y="3502152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 i="1">
                <a:solidFill>
                  <a:srgbClr val="94A3B8"/>
                </a:solidFill>
                <a:latin typeface="Calibri"/>
              </a:rPr>
              <a:t>  AlarmRetrieval &gt; RootCause</a:t>
            </a:r>
          </a:p>
        </p:txBody>
      </p:sp>
      <p:sp>
        <p:nvSpPr>
          <p:cNvPr id="21" name="sp21"/>
          <p:cNvSpPr>
            <a:spLocks noGrp="1"/>
          </p:cNvSpPr>
          <p:nvPr/>
        </p:nvSpPr>
        <p:spPr>
          <a:xfrm>
            <a:off x="548640" y="3849624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 i="1">
                <a:solidFill>
                  <a:srgbClr val="94A3B8"/>
                </a:solidFill>
                <a:latin typeface="Calibri"/>
              </a:rPr>
              <a:t>  Correlation &gt; Impact &gt; Resolution</a:t>
            </a:r>
          </a:p>
        </p:txBody>
      </p:sp>
      <p:sp>
        <p:nvSpPr>
          <p:cNvPr id="22" name="rect22"/>
          <p:cNvSpPr>
            <a:spLocks noGrp="1"/>
          </p:cNvSpPr>
          <p:nvPr/>
        </p:nvSpPr>
        <p:spPr>
          <a:xfrm>
            <a:off x="457200" y="4197096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3" name="sp23"/>
          <p:cNvSpPr>
            <a:spLocks noGrp="1"/>
          </p:cNvSpPr>
          <p:nvPr/>
        </p:nvSpPr>
        <p:spPr>
          <a:xfrm>
            <a:off x="548640" y="4197096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22C55E"/>
                </a:solidFill>
                <a:latin typeface="Calibri"/>
              </a:rPr>
              <a:t>Structured JSON Response</a:t>
            </a:r>
          </a:p>
        </p:txBody>
      </p:sp>
      <p:sp>
        <p:nvSpPr>
          <p:cNvPr id="24" name="rect24"/>
          <p:cNvSpPr>
            <a:spLocks noGrp="1"/>
          </p:cNvSpPr>
          <p:nvPr/>
        </p:nvSpPr>
        <p:spPr>
          <a:xfrm>
            <a:off x="4297680" y="822960"/>
            <a:ext cx="3840480" cy="3840480"/>
          </a:xfrm>
          <a:prstGeom prst="rect">
            <a:avLst/>
          </a:prstGeom>
          <a:solidFill>
            <a:srgbClr val="1A2E1A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5" name="sp25"/>
          <p:cNvSpPr>
            <a:spLocks noGrp="1"/>
          </p:cNvSpPr>
          <p:nvPr/>
        </p:nvSpPr>
        <p:spPr>
          <a:xfrm>
            <a:off x="4480560" y="9144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400" dirty="0" b="1">
                <a:solidFill>
                  <a:srgbClr val="22C55E"/>
                </a:solidFill>
                <a:latin typeface="Calibri"/>
              </a:rPr>
              <a:t>FALLBACK MODE  (no API key needed)</a:t>
            </a:r>
          </a:p>
        </p:txBody>
      </p:sp>
      <p:sp>
        <p:nvSpPr>
          <p:cNvPr id="26" name="rect26"/>
          <p:cNvSpPr>
            <a:spLocks noGrp="1"/>
          </p:cNvSpPr>
          <p:nvPr/>
        </p:nvSpPr>
        <p:spPr>
          <a:xfrm>
            <a:off x="4480560" y="1417320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7" name="sp27"/>
          <p:cNvSpPr>
            <a:spLocks noGrp="1"/>
          </p:cNvSpPr>
          <p:nvPr/>
        </p:nvSpPr>
        <p:spPr>
          <a:xfrm>
            <a:off x="4572000" y="141732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 b="1">
                <a:solidFill>
                  <a:srgbClr val="22C55E"/>
                </a:solidFill>
                <a:latin typeface="Calibri"/>
              </a:rPr>
              <a:t>User Query (natural language)</a:t>
            </a:r>
          </a:p>
        </p:txBody>
      </p:sp>
      <p:sp>
        <p:nvSpPr>
          <p:cNvPr id="28" name="rect28"/>
          <p:cNvSpPr>
            <a:spLocks noGrp="1"/>
          </p:cNvSpPr>
          <p:nvPr/>
        </p:nvSpPr>
        <p:spPr>
          <a:xfrm>
            <a:off x="4480560" y="1764792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9" name="sp29"/>
          <p:cNvSpPr>
            <a:spLocks noGrp="1"/>
          </p:cNvSpPr>
          <p:nvPr/>
        </p:nvSpPr>
        <p:spPr>
          <a:xfrm>
            <a:off x="4572000" y="1764792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94A3B8"/>
                </a:solidFill>
                <a:latin typeface="Calibri"/>
              </a:rPr>
              <a:t>Input Guardrails</a:t>
            </a:r>
          </a:p>
        </p:txBody>
      </p:sp>
      <p:sp>
        <p:nvSpPr>
          <p:cNvPr id="30" name="rect30"/>
          <p:cNvSpPr>
            <a:spLocks noGrp="1"/>
          </p:cNvSpPr>
          <p:nvPr/>
        </p:nvSpPr>
        <p:spPr>
          <a:xfrm>
            <a:off x="4480560" y="2112264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txBody>
          <a:bodyPr/>
          <a:lstStyle/>
          <a:p/>
        </p:txBody>
      </p:sp>
      <p:sp>
        <p:nvSpPr>
          <p:cNvPr id="31" name="sp31"/>
          <p:cNvSpPr>
            <a:spLocks noGrp="1"/>
          </p:cNvSpPr>
          <p:nvPr/>
        </p:nvSpPr>
        <p:spPr>
          <a:xfrm>
            <a:off x="4572000" y="2112264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EAB308"/>
                </a:solidFill>
                <a:latin typeface="Calibri"/>
              </a:rPr>
              <a:t>BM25 Keyword Search (CSV only)</a:t>
            </a:r>
          </a:p>
        </p:txBody>
      </p:sp>
      <p:sp>
        <p:nvSpPr>
          <p:cNvPr id="32" name="rect32"/>
          <p:cNvSpPr>
            <a:spLocks noGrp="1"/>
          </p:cNvSpPr>
          <p:nvPr/>
        </p:nvSpPr>
        <p:spPr>
          <a:xfrm>
            <a:off x="4480560" y="2459736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33" name="sp33"/>
          <p:cNvSpPr>
            <a:spLocks noGrp="1"/>
          </p:cNvSpPr>
          <p:nvPr/>
        </p:nvSpPr>
        <p:spPr>
          <a:xfrm>
            <a:off x="4572000" y="2459736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F97316"/>
                </a:solidFill>
                <a:latin typeface="Calibri"/>
              </a:rPr>
              <a:t>Rule-Based Root Cause Engine</a:t>
            </a:r>
          </a:p>
        </p:txBody>
      </p:sp>
      <p:sp>
        <p:nvSpPr>
          <p:cNvPr id="34" name="rect34"/>
          <p:cNvSpPr>
            <a:spLocks noGrp="1"/>
          </p:cNvSpPr>
          <p:nvPr/>
        </p:nvSpPr>
        <p:spPr>
          <a:xfrm>
            <a:off x="4480560" y="2807208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35" name="sp35"/>
          <p:cNvSpPr>
            <a:spLocks noGrp="1"/>
          </p:cNvSpPr>
          <p:nvPr/>
        </p:nvSpPr>
        <p:spPr>
          <a:xfrm>
            <a:off x="4572000" y="2807208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F97316"/>
                </a:solidFill>
                <a:latin typeface="Calibri"/>
              </a:rPr>
              <a:t>Statistical Impact Assessment</a:t>
            </a:r>
          </a:p>
        </p:txBody>
      </p:sp>
      <p:sp>
        <p:nvSpPr>
          <p:cNvPr id="36" name="rect36"/>
          <p:cNvSpPr>
            <a:spLocks noGrp="1"/>
          </p:cNvSpPr>
          <p:nvPr/>
        </p:nvSpPr>
        <p:spPr>
          <a:xfrm>
            <a:off x="4480560" y="3154680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37" name="sp37"/>
          <p:cNvSpPr>
            <a:spLocks noGrp="1"/>
          </p:cNvSpPr>
          <p:nvPr/>
        </p:nvSpPr>
        <p:spPr>
          <a:xfrm>
            <a:off x="4572000" y="315468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F97316"/>
                </a:solidFill>
                <a:latin typeface="Calibri"/>
              </a:rPr>
              <a:t>Template-Based Resolutions</a:t>
            </a:r>
          </a:p>
        </p:txBody>
      </p:sp>
      <p:sp>
        <p:nvSpPr>
          <p:cNvPr id="38" name="rect38"/>
          <p:cNvSpPr>
            <a:spLocks noGrp="1"/>
          </p:cNvSpPr>
          <p:nvPr/>
        </p:nvSpPr>
        <p:spPr>
          <a:xfrm>
            <a:off x="4480560" y="4197096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39" name="sp39"/>
          <p:cNvSpPr>
            <a:spLocks noGrp="1"/>
          </p:cNvSpPr>
          <p:nvPr/>
        </p:nvSpPr>
        <p:spPr>
          <a:xfrm>
            <a:off x="4572000" y="4197096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22C55E"/>
                </a:solidFill>
                <a:latin typeface="Calibri"/>
              </a:rPr>
              <a:t>Structured JSON Response</a:t>
            </a:r>
          </a:p>
        </p:txBody>
      </p:sp>
      <p:sp>
        <p:nvSpPr>
          <p:cNvPr id="40" name="rect40"/>
          <p:cNvSpPr>
            <a:spLocks noGrp="1"/>
          </p:cNvSpPr>
          <p:nvPr/>
        </p:nvSpPr>
        <p:spPr>
          <a:xfrm>
            <a:off x="274320" y="4709160"/>
            <a:ext cx="786384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41" name="sp41"/>
          <p:cNvSpPr>
            <a:spLocks noGrp="1"/>
          </p:cNvSpPr>
          <p:nvPr/>
        </p:nvSpPr>
        <p:spPr>
          <a:xfrm>
            <a:off x="365760" y="470916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200" dirty="0" i="1">
                <a:solidFill>
                  <a:srgbClr val="94A3B8"/>
                </a:solidFill>
                <a:latin typeface="Calibri"/>
              </a:rPr>
              <a:t>Both modes return identical JSON schema — React frontend works unchanged with either mode.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3"/>
          <p:cNvSpPr>
            <a:spLocks noGrp="1"/>
          </p:cNvSpPr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4"/>
          <p:cNvSpPr>
            <a:spLocks noGrp="1"/>
          </p:cNvSpPr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2400" dirty="0" b="1">
                <a:solidFill>
                  <a:srgbClr val="FFFFFF"/>
                </a:solidFill>
                <a:latin typeface="Calibri"/>
              </a:rPr>
              <a:t>Full Data Flow Pipeline</a:t>
            </a:r>
          </a:p>
        </p:txBody>
      </p:sp>
      <p:sp>
        <p:nvSpPr>
          <p:cNvPr id="6" name="rect6"/>
          <p:cNvSpPr>
            <a:spLocks noGrp="1"/>
          </p:cNvSpPr>
          <p:nvPr/>
        </p:nvSpPr>
        <p:spPr>
          <a:xfrm>
            <a:off x="164592" y="914400"/>
            <a:ext cx="804672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164592" y="914400"/>
            <a:ext cx="80467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600" dirty="0" b="1">
                <a:solidFill>
                  <a:srgbClr val="3B82F6"/>
                </a:solidFill>
                <a:latin typeface="Calibri"/>
              </a:rPr>
              <a:t>1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969264" y="1024128"/>
            <a:ext cx="1280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128016" y="1426464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000" dirty="0" b="1">
                <a:solidFill>
                  <a:srgbClr val="F1F5F9"/>
                </a:solidFill>
                <a:latin typeface="Calibri"/>
              </a:rPr>
              <a:t>User
Query</a:t>
            </a:r>
          </a:p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128016" y="1975104"/>
            <a:ext cx="8778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900" dirty="0" i="1">
                <a:solidFill>
                  <a:srgbClr val="94A3B8"/>
                </a:solidFill>
                <a:latin typeface="Calibri"/>
              </a:rPr>
              <a:t>3-2000 chars</a:t>
            </a:r>
          </a:p>
        </p:txBody>
      </p:sp>
      <p:sp>
        <p:nvSpPr>
          <p:cNvPr id="11" name="rect11"/>
          <p:cNvSpPr>
            <a:spLocks noGrp="1"/>
          </p:cNvSpPr>
          <p:nvPr/>
        </p:nvSpPr>
        <p:spPr>
          <a:xfrm>
            <a:off x="1097280" y="914400"/>
            <a:ext cx="804672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txBody>
          <a:bodyPr/>
          <a:lstStyle/>
          <a:p/>
        </p:txBody>
      </p:sp>
      <p:sp>
        <p:nvSpPr>
          <p:cNvPr id="12" name="sp12"/>
          <p:cNvSpPr>
            <a:spLocks noGrp="1"/>
          </p:cNvSpPr>
          <p:nvPr/>
        </p:nvSpPr>
        <p:spPr>
          <a:xfrm>
            <a:off x="1097280" y="914400"/>
            <a:ext cx="80467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600" dirty="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1901952" y="1024128"/>
            <a:ext cx="1280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1060704" y="1426464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000" dirty="0" b="1">
                <a:solidFill>
                  <a:srgbClr val="F1F5F9"/>
                </a:solidFill>
                <a:latin typeface="Calibri"/>
              </a:rPr>
              <a:t>Guardrails</a:t>
            </a:r>
          </a:p>
        </p:txBody>
      </p:sp>
      <p:sp>
        <p:nvSpPr>
          <p:cNvPr id="15" name="sp15"/>
          <p:cNvSpPr>
            <a:spLocks noGrp="1"/>
          </p:cNvSpPr>
          <p:nvPr/>
        </p:nvSpPr>
        <p:spPr>
          <a:xfrm>
            <a:off x="1060704" y="1975104"/>
            <a:ext cx="8778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900" dirty="0" i="1">
                <a:solidFill>
                  <a:srgbClr val="94A3B8"/>
                </a:solidFill>
                <a:latin typeface="Calibri"/>
              </a:rPr>
              <a:t>14 patterns</a:t>
            </a:r>
          </a:p>
        </p:txBody>
      </p:sp>
      <p:sp>
        <p:nvSpPr>
          <p:cNvPr id="16" name="rect16"/>
          <p:cNvSpPr>
            <a:spLocks noGrp="1"/>
          </p:cNvSpPr>
          <p:nvPr/>
        </p:nvSpPr>
        <p:spPr>
          <a:xfrm>
            <a:off x="2029968" y="914400"/>
            <a:ext cx="804672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txBody>
          <a:bodyPr/>
          <a:lstStyle/>
          <a:p/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2029968" y="914400"/>
            <a:ext cx="80467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600" dirty="0" b="1">
                <a:solidFill>
                  <a:srgbClr val="EAB308"/>
                </a:solidFill>
                <a:latin typeface="Calibri"/>
              </a:rPr>
              <a:t>3</a:t>
            </a:r>
          </a:p>
        </p:txBody>
      </p:sp>
      <p:sp>
        <p:nvSpPr>
          <p:cNvPr id="18" name="sp18"/>
          <p:cNvSpPr>
            <a:spLocks noGrp="1"/>
          </p:cNvSpPr>
          <p:nvPr/>
        </p:nvSpPr>
        <p:spPr>
          <a:xfrm>
            <a:off x="2834640" y="1024128"/>
            <a:ext cx="1280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19" name="sp19"/>
          <p:cNvSpPr>
            <a:spLocks noGrp="1"/>
          </p:cNvSpPr>
          <p:nvPr/>
        </p:nvSpPr>
        <p:spPr>
          <a:xfrm>
            <a:off x="1993392" y="1426464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000" dirty="0" b="1">
                <a:solidFill>
                  <a:srgbClr val="F1F5F9"/>
                </a:solidFill>
                <a:latin typeface="Calibri"/>
              </a:rPr>
              <a:t>Token
Optimizer</a:t>
            </a:r>
          </a:p>
        </p:txBody>
      </p:sp>
      <p:sp>
        <p:nvSpPr>
          <p:cNvPr id="20" name="sp20"/>
          <p:cNvSpPr>
            <a:spLocks noGrp="1"/>
          </p:cNvSpPr>
          <p:nvPr/>
        </p:nvSpPr>
        <p:spPr>
          <a:xfrm>
            <a:off x="1993392" y="1975104"/>
            <a:ext cx="8778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900" dirty="0" i="1">
                <a:solidFill>
                  <a:srgbClr val="94A3B8"/>
                </a:solidFill>
                <a:latin typeface="Calibri"/>
              </a:rPr>
              <a:t>2500 tok/agent</a:t>
            </a:r>
          </a:p>
        </p:txBody>
      </p:sp>
      <p:sp>
        <p:nvSpPr>
          <p:cNvPr id="21" name="rect21"/>
          <p:cNvSpPr>
            <a:spLocks noGrp="1"/>
          </p:cNvSpPr>
          <p:nvPr/>
        </p:nvSpPr>
        <p:spPr>
          <a:xfrm>
            <a:off x="2962656" y="914400"/>
            <a:ext cx="804672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22" name="sp22"/>
          <p:cNvSpPr>
            <a:spLocks noGrp="1"/>
          </p:cNvSpPr>
          <p:nvPr/>
        </p:nvSpPr>
        <p:spPr>
          <a:xfrm>
            <a:off x="2962656" y="914400"/>
            <a:ext cx="80467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600" dirty="0" b="1">
                <a:solidFill>
                  <a:srgbClr val="F97316"/>
                </a:solidFill>
                <a:latin typeface="Calibri"/>
              </a:rPr>
              <a:t>4</a:t>
            </a:r>
          </a:p>
        </p:txBody>
      </p:sp>
      <p:sp>
        <p:nvSpPr>
          <p:cNvPr id="23" name="sp23"/>
          <p:cNvSpPr>
            <a:spLocks noGrp="1"/>
          </p:cNvSpPr>
          <p:nvPr/>
        </p:nvSpPr>
        <p:spPr>
          <a:xfrm>
            <a:off x="3767328" y="1024128"/>
            <a:ext cx="1280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24" name="sp24"/>
          <p:cNvSpPr>
            <a:spLocks noGrp="1"/>
          </p:cNvSpPr>
          <p:nvPr/>
        </p:nvSpPr>
        <p:spPr>
          <a:xfrm>
            <a:off x="2926080" y="1426464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000" dirty="0" b="1">
                <a:solidFill>
                  <a:srgbClr val="F1F5F9"/>
                </a:solidFill>
                <a:latin typeface="Calibri"/>
              </a:rPr>
              <a:t>BM25
Search</a:t>
            </a:r>
          </a:p>
        </p:txBody>
      </p:sp>
      <p:sp>
        <p:nvSpPr>
          <p:cNvPr id="25" name="sp25"/>
          <p:cNvSpPr>
            <a:spLocks noGrp="1"/>
          </p:cNvSpPr>
          <p:nvPr/>
        </p:nvSpPr>
        <p:spPr>
          <a:xfrm>
            <a:off x="2926080" y="1975104"/>
            <a:ext cx="8778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900" dirty="0" i="1">
                <a:solidFill>
                  <a:srgbClr val="94A3B8"/>
                </a:solidFill>
                <a:latin typeface="Calibri"/>
              </a:rPr>
              <a:t>Okapi BM25</a:t>
            </a:r>
          </a:p>
        </p:txBody>
      </p:sp>
      <p:sp>
        <p:nvSpPr>
          <p:cNvPr id="26" name="rect26"/>
          <p:cNvSpPr>
            <a:spLocks noGrp="1"/>
          </p:cNvSpPr>
          <p:nvPr/>
        </p:nvSpPr>
        <p:spPr>
          <a:xfrm>
            <a:off x="3895344" y="914400"/>
            <a:ext cx="804672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txBody>
          <a:bodyPr/>
          <a:lstStyle/>
          <a:p/>
        </p:txBody>
      </p:sp>
      <p:sp>
        <p:nvSpPr>
          <p:cNvPr id="27" name="sp27"/>
          <p:cNvSpPr>
            <a:spLocks noGrp="1"/>
          </p:cNvSpPr>
          <p:nvPr/>
        </p:nvSpPr>
        <p:spPr>
          <a:xfrm>
            <a:off x="3895344" y="914400"/>
            <a:ext cx="80467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600" dirty="0" b="1">
                <a:solidFill>
                  <a:srgbClr val="06B6D4"/>
                </a:solidFill>
                <a:latin typeface="Calibri"/>
              </a:rPr>
              <a:t>5</a:t>
            </a:r>
          </a:p>
        </p:txBody>
      </p:sp>
      <p:sp>
        <p:nvSpPr>
          <p:cNvPr id="28" name="sp28"/>
          <p:cNvSpPr>
            <a:spLocks noGrp="1"/>
          </p:cNvSpPr>
          <p:nvPr/>
        </p:nvSpPr>
        <p:spPr>
          <a:xfrm>
            <a:off x="4700016" y="1024128"/>
            <a:ext cx="1280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29" name="sp29"/>
          <p:cNvSpPr>
            <a:spLocks noGrp="1"/>
          </p:cNvSpPr>
          <p:nvPr/>
        </p:nvSpPr>
        <p:spPr>
          <a:xfrm>
            <a:off x="3858768" y="1426464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000" dirty="0" b="1">
                <a:solidFill>
                  <a:srgbClr val="F1F5F9"/>
                </a:solidFill>
                <a:latin typeface="Calibri"/>
              </a:rPr>
              <a:t>Vector
Search</a:t>
            </a:r>
          </a:p>
        </p:txBody>
      </p:sp>
      <p:sp>
        <p:nvSpPr>
          <p:cNvPr id="30" name="sp30"/>
          <p:cNvSpPr>
            <a:spLocks noGrp="1"/>
          </p:cNvSpPr>
          <p:nvPr/>
        </p:nvSpPr>
        <p:spPr>
          <a:xfrm>
            <a:off x="3858768" y="1975104"/>
            <a:ext cx="8778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900" dirty="0" i="1">
                <a:solidFill>
                  <a:srgbClr val="94A3B8"/>
                </a:solidFill>
                <a:latin typeface="Calibri"/>
              </a:rPr>
              <a:t>ChromaDB</a:t>
            </a:r>
          </a:p>
        </p:txBody>
      </p:sp>
      <p:sp>
        <p:nvSpPr>
          <p:cNvPr id="31" name="rect31"/>
          <p:cNvSpPr>
            <a:spLocks noGrp="1"/>
          </p:cNvSpPr>
          <p:nvPr/>
        </p:nvSpPr>
        <p:spPr>
          <a:xfrm>
            <a:off x="4828031" y="914400"/>
            <a:ext cx="804672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32" name="sp32"/>
          <p:cNvSpPr>
            <a:spLocks noGrp="1"/>
          </p:cNvSpPr>
          <p:nvPr/>
        </p:nvSpPr>
        <p:spPr>
          <a:xfrm>
            <a:off x="4828031" y="914400"/>
            <a:ext cx="80467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600" dirty="0" b="1">
                <a:solidFill>
                  <a:srgbClr val="22C55E"/>
                </a:solidFill>
                <a:latin typeface="Calibri"/>
              </a:rPr>
              <a:t>6</a:t>
            </a:r>
          </a:p>
        </p:txBody>
      </p:sp>
      <p:sp>
        <p:nvSpPr>
          <p:cNvPr id="33" name="sp33"/>
          <p:cNvSpPr>
            <a:spLocks noGrp="1"/>
          </p:cNvSpPr>
          <p:nvPr/>
        </p:nvSpPr>
        <p:spPr>
          <a:xfrm>
            <a:off x="5632703" y="1024128"/>
            <a:ext cx="1280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34" name="sp34"/>
          <p:cNvSpPr>
            <a:spLocks noGrp="1"/>
          </p:cNvSpPr>
          <p:nvPr/>
        </p:nvSpPr>
        <p:spPr>
          <a:xfrm>
            <a:off x="4791455" y="1426464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000" dirty="0" b="1">
                <a:solidFill>
                  <a:srgbClr val="F1F5F9"/>
                </a:solidFill>
                <a:latin typeface="Calibri"/>
              </a:rPr>
              <a:t>RRF
Fusion</a:t>
            </a:r>
          </a:p>
        </p:txBody>
      </p:sp>
      <p:sp>
        <p:nvSpPr>
          <p:cNvPr id="35" name="sp35"/>
          <p:cNvSpPr>
            <a:spLocks noGrp="1"/>
          </p:cNvSpPr>
          <p:nvPr/>
        </p:nvSpPr>
        <p:spPr>
          <a:xfrm>
            <a:off x="4791455" y="1975104"/>
            <a:ext cx="8778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900" dirty="0" i="1">
                <a:solidFill>
                  <a:srgbClr val="94A3B8"/>
                </a:solidFill>
                <a:latin typeface="Calibri"/>
              </a:rPr>
              <a:t>1/(60+rank)</a:t>
            </a:r>
          </a:p>
        </p:txBody>
      </p:sp>
      <p:sp>
        <p:nvSpPr>
          <p:cNvPr id="36" name="rect36"/>
          <p:cNvSpPr>
            <a:spLocks noGrp="1"/>
          </p:cNvSpPr>
          <p:nvPr/>
        </p:nvSpPr>
        <p:spPr>
          <a:xfrm>
            <a:off x="5760720" y="914400"/>
            <a:ext cx="804672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37" name="sp37"/>
          <p:cNvSpPr>
            <a:spLocks noGrp="1"/>
          </p:cNvSpPr>
          <p:nvPr/>
        </p:nvSpPr>
        <p:spPr>
          <a:xfrm>
            <a:off x="5760720" y="914400"/>
            <a:ext cx="80467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600" dirty="0" b="1">
                <a:solidFill>
                  <a:srgbClr val="F97316"/>
                </a:solidFill>
                <a:latin typeface="Calibri"/>
              </a:rPr>
              <a:t>7</a:t>
            </a:r>
          </a:p>
        </p:txBody>
      </p:sp>
      <p:sp>
        <p:nvSpPr>
          <p:cNvPr id="38" name="sp38"/>
          <p:cNvSpPr>
            <a:spLocks noGrp="1"/>
          </p:cNvSpPr>
          <p:nvPr/>
        </p:nvSpPr>
        <p:spPr>
          <a:xfrm>
            <a:off x="6565392" y="1024128"/>
            <a:ext cx="1280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39" name="sp39"/>
          <p:cNvSpPr>
            <a:spLocks noGrp="1"/>
          </p:cNvSpPr>
          <p:nvPr/>
        </p:nvSpPr>
        <p:spPr>
          <a:xfrm>
            <a:off x="5724144" y="1426464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000" dirty="0" b="1">
                <a:solidFill>
                  <a:srgbClr val="F1F5F9"/>
                </a:solidFill>
                <a:latin typeface="Calibri"/>
              </a:rPr>
              <a:t>Reranker</a:t>
            </a:r>
          </a:p>
        </p:txBody>
      </p:sp>
      <p:sp>
        <p:nvSpPr>
          <p:cNvPr id="40" name="sp40"/>
          <p:cNvSpPr>
            <a:spLocks noGrp="1"/>
          </p:cNvSpPr>
          <p:nvPr/>
        </p:nvSpPr>
        <p:spPr>
          <a:xfrm>
            <a:off x="5724144" y="1975104"/>
            <a:ext cx="8778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900" dirty="0" i="1">
                <a:solidFill>
                  <a:srgbClr val="94A3B8"/>
                </a:solidFill>
                <a:latin typeface="Calibri"/>
              </a:rPr>
              <a:t>65/35 blend</a:t>
            </a:r>
          </a:p>
        </p:txBody>
      </p:sp>
      <p:sp>
        <p:nvSpPr>
          <p:cNvPr id="41" name="rect41"/>
          <p:cNvSpPr>
            <a:spLocks noGrp="1"/>
          </p:cNvSpPr>
          <p:nvPr/>
        </p:nvSpPr>
        <p:spPr>
          <a:xfrm>
            <a:off x="6693408" y="914400"/>
            <a:ext cx="804672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42" name="sp42"/>
          <p:cNvSpPr>
            <a:spLocks noGrp="1"/>
          </p:cNvSpPr>
          <p:nvPr/>
        </p:nvSpPr>
        <p:spPr>
          <a:xfrm>
            <a:off x="6693408" y="914400"/>
            <a:ext cx="80467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600" dirty="0" b="1">
                <a:solidFill>
                  <a:srgbClr val="3B82F6"/>
                </a:solidFill>
                <a:latin typeface="Calibri"/>
              </a:rPr>
              <a:t>8</a:t>
            </a:r>
          </a:p>
        </p:txBody>
      </p:sp>
      <p:sp>
        <p:nvSpPr>
          <p:cNvPr id="43" name="sp43"/>
          <p:cNvSpPr>
            <a:spLocks noGrp="1"/>
          </p:cNvSpPr>
          <p:nvPr/>
        </p:nvSpPr>
        <p:spPr>
          <a:xfrm>
            <a:off x="7498080" y="1024128"/>
            <a:ext cx="1280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44" name="sp44"/>
          <p:cNvSpPr>
            <a:spLocks noGrp="1"/>
          </p:cNvSpPr>
          <p:nvPr/>
        </p:nvSpPr>
        <p:spPr>
          <a:xfrm>
            <a:off x="6656832" y="1426464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000" dirty="0" b="1">
                <a:solidFill>
                  <a:srgbClr val="F1F5F9"/>
                </a:solidFill>
                <a:latin typeface="Calibri"/>
              </a:rPr>
              <a:t>A2A
Agents</a:t>
            </a:r>
          </a:p>
        </p:txBody>
      </p:sp>
      <p:sp>
        <p:nvSpPr>
          <p:cNvPr id="45" name="sp45"/>
          <p:cNvSpPr>
            <a:spLocks noGrp="1"/>
          </p:cNvSpPr>
          <p:nvPr/>
        </p:nvSpPr>
        <p:spPr>
          <a:xfrm>
            <a:off x="6656832" y="1975104"/>
            <a:ext cx="8778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900" dirty="0" i="1">
                <a:solidFill>
                  <a:srgbClr val="94A3B8"/>
                </a:solidFill>
                <a:latin typeface="Calibri"/>
              </a:rPr>
              <a:t>5-step flow</a:t>
            </a:r>
          </a:p>
        </p:txBody>
      </p:sp>
      <p:sp>
        <p:nvSpPr>
          <p:cNvPr id="46" name="rect46"/>
          <p:cNvSpPr>
            <a:spLocks noGrp="1"/>
          </p:cNvSpPr>
          <p:nvPr/>
        </p:nvSpPr>
        <p:spPr>
          <a:xfrm>
            <a:off x="7626096" y="914400"/>
            <a:ext cx="804672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47" name="sp47"/>
          <p:cNvSpPr>
            <a:spLocks noGrp="1"/>
          </p:cNvSpPr>
          <p:nvPr/>
        </p:nvSpPr>
        <p:spPr>
          <a:xfrm>
            <a:off x="7626096" y="914400"/>
            <a:ext cx="80467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600" dirty="0" b="1">
                <a:solidFill>
                  <a:srgbClr val="22C55E"/>
                </a:solidFill>
                <a:latin typeface="Calibri"/>
              </a:rPr>
              <a:t>9</a:t>
            </a:r>
          </a:p>
        </p:txBody>
      </p:sp>
      <p:sp>
        <p:nvSpPr>
          <p:cNvPr id="48" name="sp48"/>
          <p:cNvSpPr>
            <a:spLocks noGrp="1"/>
          </p:cNvSpPr>
          <p:nvPr/>
        </p:nvSpPr>
        <p:spPr>
          <a:xfrm>
            <a:off x="7589520" y="1426464"/>
            <a:ext cx="877824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000" dirty="0" b="1">
                <a:solidFill>
                  <a:srgbClr val="F1F5F9"/>
                </a:solidFill>
                <a:latin typeface="Calibri"/>
              </a:rPr>
              <a:t>JSON
Response</a:t>
            </a:r>
          </a:p>
        </p:txBody>
      </p:sp>
      <p:sp>
        <p:nvSpPr>
          <p:cNvPr id="49" name="sp49"/>
          <p:cNvSpPr>
            <a:spLocks noGrp="1"/>
          </p:cNvSpPr>
          <p:nvPr/>
        </p:nvSpPr>
        <p:spPr>
          <a:xfrm>
            <a:off x="7589520" y="1975104"/>
            <a:ext cx="8778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900" dirty="0" i="1">
                <a:solidFill>
                  <a:srgbClr val="94A3B8"/>
                </a:solidFill>
                <a:latin typeface="Calibri"/>
              </a:rPr>
              <a:t>UI rendered</a:t>
            </a:r>
          </a:p>
        </p:txBody>
      </p:sp>
      <p:sp>
        <p:nvSpPr>
          <p:cNvPr id="50" name="rect50"/>
          <p:cNvSpPr>
            <a:spLocks noGrp="1"/>
          </p:cNvSpPr>
          <p:nvPr/>
        </p:nvSpPr>
        <p:spPr>
          <a:xfrm>
            <a:off x="274320" y="2377440"/>
            <a:ext cx="82296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sp51"/>
          <p:cNvSpPr>
            <a:spLocks noGrp="1"/>
          </p:cNvSpPr>
          <p:nvPr/>
        </p:nvSpPr>
        <p:spPr>
          <a:xfrm>
            <a:off x="365760" y="24688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F97316"/>
                </a:solidFill>
                <a:latin typeface="Calibri"/>
              </a:rPr>
              <a:t>Zero-Incident Handling (graceful defaults)</a:t>
            </a:r>
          </a:p>
        </p:txBody>
      </p:sp>
      <p:sp>
        <p:nvSpPr>
          <p:cNvPr id="52" name="sp52"/>
          <p:cNvSpPr>
            <a:spLocks noGrp="1"/>
          </p:cNvSpPr>
          <p:nvPr/>
        </p:nvSpPr>
        <p:spPr>
          <a:xfrm>
            <a:off x="457200" y="2871216"/>
            <a:ext cx="40233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No matching incidents found in database</a:t>
            </a:r>
          </a:p>
        </p:txBody>
      </p:sp>
      <p:sp>
        <p:nvSpPr>
          <p:cNvPr id="53" name="sp53"/>
          <p:cNvSpPr>
            <a:spLocks noGrp="1"/>
          </p:cNvSpPr>
          <p:nvPr/>
        </p:nvSpPr>
        <p:spPr>
          <a:xfrm>
            <a:off x="457200" y="3145536"/>
            <a:ext cx="40233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Confidence score = 0%   |   Priority = UNKNOWN</a:t>
            </a:r>
          </a:p>
        </p:txBody>
      </p:sp>
      <p:sp>
        <p:nvSpPr>
          <p:cNvPr id="54" name="sp54"/>
          <p:cNvSpPr>
            <a:spLocks noGrp="1"/>
          </p:cNvSpPr>
          <p:nvPr/>
        </p:nvSpPr>
        <p:spPr>
          <a:xfrm>
            <a:off x="457200" y="3419856"/>
            <a:ext cx="40233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Root cause = 'No Historical Evidence Available'</a:t>
            </a:r>
          </a:p>
        </p:txBody>
      </p:sp>
      <p:sp>
        <p:nvSpPr>
          <p:cNvPr id="55" name="sp55"/>
          <p:cNvSpPr>
            <a:spLocks noGrp="1"/>
          </p:cNvSpPr>
          <p:nvPr/>
        </p:nvSpPr>
        <p:spPr>
          <a:xfrm>
            <a:off x="457200" y="3694176"/>
            <a:ext cx="40233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Revenue / outage KPI cards show N/A</a:t>
            </a:r>
          </a:p>
        </p:txBody>
      </p:sp>
      <p:sp>
        <p:nvSpPr>
          <p:cNvPr id="56" name="sp56"/>
          <p:cNvSpPr>
            <a:spLocks noGrp="1"/>
          </p:cNvSpPr>
          <p:nvPr/>
        </p:nvSpPr>
        <p:spPr>
          <a:xfrm>
            <a:off x="457200" y="3968496"/>
            <a:ext cx="40233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7 generic telecom troubleshooting steps provided</a:t>
            </a:r>
          </a:p>
        </p:txBody>
      </p:sp>
      <p:sp>
        <p:nvSpPr>
          <p:cNvPr id="57" name="sp57"/>
          <p:cNvSpPr>
            <a:spLocks noGrp="1"/>
          </p:cNvSpPr>
          <p:nvPr/>
        </p:nvSpPr>
        <p:spPr>
          <a:xfrm>
            <a:off x="4572000" y="24688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22C55E"/>
                </a:solidFill>
                <a:latin typeface="Calibri"/>
              </a:rPr>
              <a:t>Fallback Mode (no OpenAI key)</a:t>
            </a:r>
          </a:p>
        </p:txBody>
      </p:sp>
      <p:sp>
        <p:nvSpPr>
          <p:cNvPr id="58" name="sp58"/>
          <p:cNvSpPr>
            <a:spLocks noGrp="1"/>
          </p:cNvSpPr>
          <p:nvPr/>
        </p:nvSpPr>
        <p:spPr>
          <a:xfrm>
            <a:off x="4663440" y="2871216"/>
            <a:ext cx="40233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FallbackAnalyzer activates automatically</a:t>
            </a:r>
          </a:p>
        </p:txBody>
      </p:sp>
      <p:sp>
        <p:nvSpPr>
          <p:cNvPr id="59" name="sp59"/>
          <p:cNvSpPr>
            <a:spLocks noGrp="1"/>
          </p:cNvSpPr>
          <p:nvPr/>
        </p:nvSpPr>
        <p:spPr>
          <a:xfrm>
            <a:off x="4663440" y="3145536"/>
            <a:ext cx="40233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BM25 search on raw CSV — no ChromaDB needed</a:t>
            </a:r>
          </a:p>
        </p:txBody>
      </p:sp>
      <p:sp>
        <p:nvSpPr>
          <p:cNvPr id="60" name="sp60"/>
          <p:cNvSpPr>
            <a:spLocks noGrp="1"/>
          </p:cNvSpPr>
          <p:nvPr/>
        </p:nvSpPr>
        <p:spPr>
          <a:xfrm>
            <a:off x="4663440" y="3419856"/>
            <a:ext cx="40233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Rule-based root cause from match statistics</a:t>
            </a:r>
          </a:p>
        </p:txBody>
      </p:sp>
      <p:sp>
        <p:nvSpPr>
          <p:cNvPr id="61" name="sp61"/>
          <p:cNvSpPr>
            <a:spLocks noGrp="1"/>
          </p:cNvSpPr>
          <p:nvPr/>
        </p:nvSpPr>
        <p:spPr>
          <a:xfrm>
            <a:off x="4663440" y="3694176"/>
            <a:ext cx="40233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Template resolutions from resolution_notes column</a:t>
            </a:r>
          </a:p>
        </p:txBody>
      </p:sp>
      <p:sp>
        <p:nvSpPr>
          <p:cNvPr id="62" name="sp62"/>
          <p:cNvSpPr>
            <a:spLocks noGrp="1"/>
          </p:cNvSpPr>
          <p:nvPr/>
        </p:nvSpPr>
        <p:spPr>
          <a:xfrm>
            <a:off x="4663440" y="3968496"/>
            <a:ext cx="402336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Predictive engine always available (pandas only)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3"/>
          <p:cNvSpPr>
            <a:spLocks noGrp="1"/>
          </p:cNvSpPr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4"/>
          <p:cNvSpPr>
            <a:spLocks noGrp="1"/>
          </p:cNvSpPr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2400" dirty="0" b="1">
                <a:solidFill>
                  <a:srgbClr val="FFFFFF"/>
                </a:solidFill>
                <a:latin typeface="Calibri"/>
              </a:rPr>
              <a:t>Hybrid Search: BM25 + Vector Search + RRF</a:t>
            </a:r>
          </a:p>
        </p:txBody>
      </p:sp>
      <p:sp>
        <p:nvSpPr>
          <p:cNvPr id="6" name="rect6"/>
          <p:cNvSpPr>
            <a:spLocks noGrp="1"/>
          </p:cNvSpPr>
          <p:nvPr/>
        </p:nvSpPr>
        <p:spPr>
          <a:xfrm>
            <a:off x="274320" y="822960"/>
            <a:ext cx="242316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365760" y="868680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300" dirty="0" b="1">
                <a:solidFill>
                  <a:srgbClr val="F97316"/>
                </a:solidFill>
                <a:latin typeface="Calibri"/>
              </a:rPr>
              <a:t>BM25 Keyword Search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384048" y="13167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97316"/>
                </a:solidFill>
                <a:latin typeface="Calibri"/>
              </a:rPr>
              <a:t>Algorithm: Okapi BM25</a:t>
            </a:r>
          </a:p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384048" y="15453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Library:   rank_bm25</a:t>
            </a:r>
          </a:p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384048" y="17739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k1 = 2.0  (term freq saturation)</a:t>
            </a:r>
          </a:p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384048" y="20025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b  = 0.75  (length normalisation)</a:t>
            </a:r>
          </a:p>
        </p:txBody>
      </p:sp>
      <p:sp>
        <p:nvSpPr>
          <p:cNvPr id="12" name="sp12"/>
          <p:cNvSpPr>
            <a:spLocks noGrp="1"/>
          </p:cNvSpPr>
          <p:nvPr/>
        </p:nvSpPr>
        <p:spPr>
          <a:xfrm>
            <a:off x="384048" y="22311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Input: lowercase whitespace tokenise</a:t>
            </a:r>
          </a:p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384048" y="24597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Output: top-k x 2 candidates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384048" y="26883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/>
            </a:r>
          </a:p>
        </p:txBody>
      </p:sp>
      <p:sp>
        <p:nvSpPr>
          <p:cNvPr id="15" name="sp15"/>
          <p:cNvSpPr>
            <a:spLocks noGrp="1"/>
          </p:cNvSpPr>
          <p:nvPr/>
        </p:nvSpPr>
        <p:spPr>
          <a:xfrm>
            <a:off x="384048" y="29169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97316"/>
                </a:solidFill>
                <a:latin typeface="Calibri"/>
              </a:rPr>
              <a:t>Strength:</a:t>
            </a:r>
          </a:p>
        </p:txBody>
      </p:sp>
      <p:sp>
        <p:nvSpPr>
          <p:cNvPr id="16" name="sp16"/>
          <p:cNvSpPr>
            <a:spLocks noGrp="1"/>
          </p:cNvSpPr>
          <p:nvPr/>
        </p:nvSpPr>
        <p:spPr>
          <a:xfrm>
            <a:off x="384048" y="31455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94A3B8"/>
                </a:solidFill>
                <a:latin typeface="Calibri"/>
              </a:rPr>
              <a:t>  Exact keyword matches</a:t>
            </a:r>
          </a:p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384048" y="33741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94A3B8"/>
                </a:solidFill>
                <a:latin typeface="Calibri"/>
              </a:rPr>
              <a:t>  Vendor names, alarm IDs</a:t>
            </a:r>
          </a:p>
        </p:txBody>
      </p:sp>
      <p:sp>
        <p:nvSpPr>
          <p:cNvPr id="18" name="sp18"/>
          <p:cNvSpPr>
            <a:spLocks noGrp="1"/>
          </p:cNvSpPr>
          <p:nvPr/>
        </p:nvSpPr>
        <p:spPr>
          <a:xfrm>
            <a:off x="384048" y="36027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94A3B8"/>
                </a:solidFill>
                <a:latin typeface="Calibri"/>
              </a:rPr>
              <a:t>  Fault type terminology</a:t>
            </a:r>
          </a:p>
        </p:txBody>
      </p:sp>
      <p:sp>
        <p:nvSpPr>
          <p:cNvPr id="19" name="sp19"/>
          <p:cNvSpPr>
            <a:spLocks noGrp="1"/>
          </p:cNvSpPr>
          <p:nvPr/>
        </p:nvSpPr>
        <p:spPr>
          <a:xfrm>
            <a:off x="384048" y="3831335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/>
            </a:r>
          </a:p>
        </p:txBody>
      </p:sp>
      <p:sp>
        <p:nvSpPr>
          <p:cNvPr id="20" name="sp20"/>
          <p:cNvSpPr>
            <a:spLocks noGrp="1"/>
          </p:cNvSpPr>
          <p:nvPr/>
        </p:nvSpPr>
        <p:spPr>
          <a:xfrm>
            <a:off x="384048" y="4059935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97316"/>
                </a:solidFill>
                <a:latin typeface="Calibri"/>
              </a:rPr>
              <a:t>Weakness:</a:t>
            </a:r>
          </a:p>
        </p:txBody>
      </p:sp>
      <p:sp>
        <p:nvSpPr>
          <p:cNvPr id="21" name="sp21"/>
          <p:cNvSpPr>
            <a:spLocks noGrp="1"/>
          </p:cNvSpPr>
          <p:nvPr/>
        </p:nvSpPr>
        <p:spPr>
          <a:xfrm>
            <a:off x="384048" y="42885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94A3B8"/>
                </a:solidFill>
                <a:latin typeface="Calibri"/>
              </a:rPr>
              <a:t>  No synonym understanding</a:t>
            </a:r>
          </a:p>
        </p:txBody>
      </p:sp>
      <p:sp>
        <p:nvSpPr>
          <p:cNvPr id="22" name="sp22"/>
          <p:cNvSpPr>
            <a:spLocks noGrp="1"/>
          </p:cNvSpPr>
          <p:nvPr/>
        </p:nvSpPr>
        <p:spPr>
          <a:xfrm>
            <a:off x="384048" y="45171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94A3B8"/>
                </a:solidFill>
                <a:latin typeface="Calibri"/>
              </a:rPr>
              <a:t>  No semantic similarity</a:t>
            </a:r>
          </a:p>
        </p:txBody>
      </p:sp>
      <p:sp>
        <p:nvSpPr>
          <p:cNvPr id="23" name="rect23"/>
          <p:cNvSpPr>
            <a:spLocks noGrp="1"/>
          </p:cNvSpPr>
          <p:nvPr/>
        </p:nvSpPr>
        <p:spPr>
          <a:xfrm>
            <a:off x="3063240" y="822960"/>
            <a:ext cx="242316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txBody>
          <a:bodyPr/>
          <a:lstStyle/>
          <a:p/>
        </p:txBody>
      </p:sp>
      <p:sp>
        <p:nvSpPr>
          <p:cNvPr id="24" name="sp24"/>
          <p:cNvSpPr>
            <a:spLocks noGrp="1"/>
          </p:cNvSpPr>
          <p:nvPr/>
        </p:nvSpPr>
        <p:spPr>
          <a:xfrm>
            <a:off x="3154680" y="868680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300" dirty="0" b="1">
                <a:solidFill>
                  <a:srgbClr val="06B6D4"/>
                </a:solidFill>
                <a:latin typeface="Calibri"/>
              </a:rPr>
              <a:t>Vector Search (Semantic)</a:t>
            </a:r>
          </a:p>
        </p:txBody>
      </p:sp>
      <p:sp>
        <p:nvSpPr>
          <p:cNvPr id="25" name="sp25"/>
          <p:cNvSpPr>
            <a:spLocks noGrp="1"/>
          </p:cNvSpPr>
          <p:nvPr/>
        </p:nvSpPr>
        <p:spPr>
          <a:xfrm>
            <a:off x="3172968" y="13167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Model: text-embedding-3-small</a:t>
            </a:r>
          </a:p>
        </p:txBody>
      </p:sp>
      <p:sp>
        <p:nvSpPr>
          <p:cNvPr id="26" name="sp26"/>
          <p:cNvSpPr>
            <a:spLocks noGrp="1"/>
          </p:cNvSpPr>
          <p:nvPr/>
        </p:nvSpPr>
        <p:spPr>
          <a:xfrm>
            <a:off x="3172968" y="15453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Provider: OpenAI API</a:t>
            </a:r>
          </a:p>
        </p:txBody>
      </p:sp>
      <p:sp>
        <p:nvSpPr>
          <p:cNvPr id="27" name="sp27"/>
          <p:cNvSpPr>
            <a:spLocks noGrp="1"/>
          </p:cNvSpPr>
          <p:nvPr/>
        </p:nvSpPr>
        <p:spPr>
          <a:xfrm>
            <a:off x="3172968" y="17739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Dimensions: 1536</a:t>
            </a:r>
          </a:p>
        </p:txBody>
      </p:sp>
      <p:sp>
        <p:nvSpPr>
          <p:cNvPr id="28" name="sp28"/>
          <p:cNvSpPr>
            <a:spLocks noGrp="1"/>
          </p:cNvSpPr>
          <p:nvPr/>
        </p:nvSpPr>
        <p:spPr>
          <a:xfrm>
            <a:off x="3172968" y="20025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Store: ChromaDB (local SQLite)</a:t>
            </a:r>
          </a:p>
        </p:txBody>
      </p:sp>
      <p:sp>
        <p:nvSpPr>
          <p:cNvPr id="29" name="sp29"/>
          <p:cNvSpPr>
            <a:spLocks noGrp="1"/>
          </p:cNvSpPr>
          <p:nvPr/>
        </p:nvSpPr>
        <p:spPr>
          <a:xfrm>
            <a:off x="3172968" y="22311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Metric: cosine similarity</a:t>
            </a:r>
          </a:p>
        </p:txBody>
      </p:sp>
      <p:sp>
        <p:nvSpPr>
          <p:cNvPr id="30" name="sp30"/>
          <p:cNvSpPr>
            <a:spLocks noGrp="1"/>
          </p:cNvSpPr>
          <p:nvPr/>
        </p:nvSpPr>
        <p:spPr>
          <a:xfrm>
            <a:off x="3172968" y="24597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Distance -&gt; similarity:</a:t>
            </a:r>
          </a:p>
        </p:txBody>
      </p:sp>
      <p:sp>
        <p:nvSpPr>
          <p:cNvPr id="31" name="sp31"/>
          <p:cNvSpPr>
            <a:spLocks noGrp="1"/>
          </p:cNvSpPr>
          <p:nvPr/>
        </p:nvSpPr>
        <p:spPr>
          <a:xfrm>
            <a:off x="3172968" y="26883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94A3B8"/>
                </a:solidFill>
                <a:latin typeface="Calibri"/>
              </a:rPr>
              <a:t>  score = 1 - (distance / 2)</a:t>
            </a:r>
          </a:p>
        </p:txBody>
      </p:sp>
      <p:sp>
        <p:nvSpPr>
          <p:cNvPr id="32" name="sp32"/>
          <p:cNvSpPr>
            <a:spLocks noGrp="1"/>
          </p:cNvSpPr>
          <p:nvPr/>
        </p:nvSpPr>
        <p:spPr>
          <a:xfrm>
            <a:off x="3172968" y="29169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Output: top-k x 2 candidates</a:t>
            </a:r>
          </a:p>
        </p:txBody>
      </p:sp>
      <p:sp>
        <p:nvSpPr>
          <p:cNvPr id="33" name="sp33"/>
          <p:cNvSpPr>
            <a:spLocks noGrp="1"/>
          </p:cNvSpPr>
          <p:nvPr/>
        </p:nvSpPr>
        <p:spPr>
          <a:xfrm>
            <a:off x="3172968" y="31455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/>
            </a:r>
          </a:p>
        </p:txBody>
      </p:sp>
      <p:sp>
        <p:nvSpPr>
          <p:cNvPr id="34" name="sp34"/>
          <p:cNvSpPr>
            <a:spLocks noGrp="1"/>
          </p:cNvSpPr>
          <p:nvPr/>
        </p:nvSpPr>
        <p:spPr>
          <a:xfrm>
            <a:off x="3172968" y="33741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06B6D4"/>
                </a:solidFill>
                <a:latin typeface="Calibri"/>
              </a:rPr>
              <a:t>Strength:</a:t>
            </a:r>
          </a:p>
        </p:txBody>
      </p:sp>
      <p:sp>
        <p:nvSpPr>
          <p:cNvPr id="35" name="sp35"/>
          <p:cNvSpPr>
            <a:spLocks noGrp="1"/>
          </p:cNvSpPr>
          <p:nvPr/>
        </p:nvSpPr>
        <p:spPr>
          <a:xfrm>
            <a:off x="3172968" y="36027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94A3B8"/>
                </a:solidFill>
                <a:latin typeface="Calibri"/>
              </a:rPr>
              <a:t>  Semantic / paraphrase matching</a:t>
            </a:r>
          </a:p>
        </p:txBody>
      </p:sp>
      <p:sp>
        <p:nvSpPr>
          <p:cNvPr id="36" name="sp36"/>
          <p:cNvSpPr>
            <a:spLocks noGrp="1"/>
          </p:cNvSpPr>
          <p:nvPr/>
        </p:nvSpPr>
        <p:spPr>
          <a:xfrm>
            <a:off x="3172968" y="3831335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94A3B8"/>
                </a:solidFill>
                <a:latin typeface="Calibri"/>
              </a:rPr>
              <a:t>  Cross-language fault descriptions</a:t>
            </a:r>
          </a:p>
        </p:txBody>
      </p:sp>
      <p:sp>
        <p:nvSpPr>
          <p:cNvPr id="37" name="sp37"/>
          <p:cNvSpPr>
            <a:spLocks noGrp="1"/>
          </p:cNvSpPr>
          <p:nvPr/>
        </p:nvSpPr>
        <p:spPr>
          <a:xfrm>
            <a:off x="3172968" y="4059935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/>
            </a:r>
          </a:p>
        </p:txBody>
      </p:sp>
      <p:sp>
        <p:nvSpPr>
          <p:cNvPr id="38" name="sp38"/>
          <p:cNvSpPr>
            <a:spLocks noGrp="1"/>
          </p:cNvSpPr>
          <p:nvPr/>
        </p:nvSpPr>
        <p:spPr>
          <a:xfrm>
            <a:off x="3172968" y="42885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06B6D4"/>
                </a:solidFill>
                <a:latin typeface="Calibri"/>
              </a:rPr>
              <a:t>Weakness:</a:t>
            </a:r>
          </a:p>
        </p:txBody>
      </p:sp>
      <p:sp>
        <p:nvSpPr>
          <p:cNvPr id="39" name="sp39"/>
          <p:cNvSpPr>
            <a:spLocks noGrp="1"/>
          </p:cNvSpPr>
          <p:nvPr/>
        </p:nvSpPr>
        <p:spPr>
          <a:xfrm>
            <a:off x="3172968" y="45171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94A3B8"/>
                </a:solidFill>
                <a:latin typeface="Calibri"/>
              </a:rPr>
              <a:t>  May miss exact alarm codes</a:t>
            </a:r>
          </a:p>
        </p:txBody>
      </p:sp>
      <p:sp>
        <p:nvSpPr>
          <p:cNvPr id="40" name="rect40"/>
          <p:cNvSpPr>
            <a:spLocks noGrp="1"/>
          </p:cNvSpPr>
          <p:nvPr/>
        </p:nvSpPr>
        <p:spPr>
          <a:xfrm>
            <a:off x="5852160" y="822960"/>
            <a:ext cx="242316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41" name="sp41"/>
          <p:cNvSpPr>
            <a:spLocks noGrp="1"/>
          </p:cNvSpPr>
          <p:nvPr/>
        </p:nvSpPr>
        <p:spPr>
          <a:xfrm>
            <a:off x="5943600" y="868680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300" dirty="0" b="1">
                <a:solidFill>
                  <a:srgbClr val="22C55E"/>
                </a:solidFill>
                <a:latin typeface="Calibri"/>
              </a:rPr>
              <a:t>RRF Fusion (Combine)</a:t>
            </a:r>
          </a:p>
        </p:txBody>
      </p:sp>
      <p:sp>
        <p:nvSpPr>
          <p:cNvPr id="42" name="sp42"/>
          <p:cNvSpPr>
            <a:spLocks noGrp="1"/>
          </p:cNvSpPr>
          <p:nvPr/>
        </p:nvSpPr>
        <p:spPr>
          <a:xfrm>
            <a:off x="5961888" y="13167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22C55E"/>
                </a:solidFill>
                <a:latin typeface="Calibri"/>
              </a:rPr>
              <a:t>Algorithm: Reciprocal Rank Fusion</a:t>
            </a:r>
          </a:p>
        </p:txBody>
      </p:sp>
      <p:sp>
        <p:nvSpPr>
          <p:cNvPr id="43" name="sp43"/>
          <p:cNvSpPr>
            <a:spLocks noGrp="1"/>
          </p:cNvSpPr>
          <p:nvPr/>
        </p:nvSpPr>
        <p:spPr>
          <a:xfrm>
            <a:off x="5961888" y="15453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22C55E"/>
                </a:solidFill>
                <a:latin typeface="Calibri"/>
              </a:rPr>
              <a:t>Formula:</a:t>
            </a:r>
          </a:p>
        </p:txBody>
      </p:sp>
      <p:sp>
        <p:nvSpPr>
          <p:cNvPr id="44" name="sp44"/>
          <p:cNvSpPr>
            <a:spLocks noGrp="1"/>
          </p:cNvSpPr>
          <p:nvPr/>
        </p:nvSpPr>
        <p:spPr>
          <a:xfrm>
            <a:off x="5961888" y="17739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EAB308"/>
                </a:solidFill>
                <a:latin typeface="Calibri"/>
              </a:rPr>
              <a:t>  1/(60 + rank_BM25)</a:t>
            </a:r>
          </a:p>
        </p:txBody>
      </p:sp>
      <p:sp>
        <p:nvSpPr>
          <p:cNvPr id="45" name="sp45"/>
          <p:cNvSpPr>
            <a:spLocks noGrp="1"/>
          </p:cNvSpPr>
          <p:nvPr/>
        </p:nvSpPr>
        <p:spPr>
          <a:xfrm>
            <a:off x="5961888" y="20025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EAB308"/>
                </a:solidFill>
                <a:latin typeface="Calibri"/>
              </a:rPr>
              <a:t>+ 1/(60 + rank_Vector)</a:t>
            </a:r>
          </a:p>
        </p:txBody>
      </p:sp>
      <p:sp>
        <p:nvSpPr>
          <p:cNvPr id="46" name="sp46"/>
          <p:cNvSpPr>
            <a:spLocks noGrp="1"/>
          </p:cNvSpPr>
          <p:nvPr/>
        </p:nvSpPr>
        <p:spPr>
          <a:xfrm>
            <a:off x="5961888" y="22311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k = 60  (smoothing constant)</a:t>
            </a:r>
          </a:p>
        </p:txBody>
      </p:sp>
      <p:sp>
        <p:nvSpPr>
          <p:cNvPr id="47" name="sp47"/>
          <p:cNvSpPr>
            <a:spLocks noGrp="1"/>
          </p:cNvSpPr>
          <p:nvPr/>
        </p:nvSpPr>
        <p:spPr>
          <a:xfrm>
            <a:off x="5961888" y="24597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/>
            </a:r>
          </a:p>
        </p:txBody>
      </p:sp>
      <p:sp>
        <p:nvSpPr>
          <p:cNvPr id="48" name="sp48"/>
          <p:cNvSpPr>
            <a:spLocks noGrp="1"/>
          </p:cNvSpPr>
          <p:nvPr/>
        </p:nvSpPr>
        <p:spPr>
          <a:xfrm>
            <a:off x="5961888" y="26883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22C55E"/>
                </a:solidFill>
                <a:latin typeface="Calibri"/>
              </a:rPr>
              <a:t>Why RRF?</a:t>
            </a:r>
          </a:p>
        </p:txBody>
      </p:sp>
      <p:sp>
        <p:nvSpPr>
          <p:cNvPr id="49" name="sp49"/>
          <p:cNvSpPr>
            <a:spLocks noGrp="1"/>
          </p:cNvSpPr>
          <p:nvPr/>
        </p:nvSpPr>
        <p:spPr>
          <a:xfrm>
            <a:off x="5961888" y="29169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94A3B8"/>
                </a:solidFill>
                <a:latin typeface="Calibri"/>
              </a:rPr>
              <a:t>  No score normalisation needed</a:t>
            </a:r>
          </a:p>
        </p:txBody>
      </p:sp>
      <p:sp>
        <p:nvSpPr>
          <p:cNvPr id="50" name="sp50"/>
          <p:cNvSpPr>
            <a:spLocks noGrp="1"/>
          </p:cNvSpPr>
          <p:nvPr/>
        </p:nvSpPr>
        <p:spPr>
          <a:xfrm>
            <a:off x="5961888" y="31455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94A3B8"/>
                </a:solidFill>
                <a:latin typeface="Calibri"/>
              </a:rPr>
              <a:t>  Both lists contribute equally</a:t>
            </a:r>
          </a:p>
        </p:txBody>
      </p:sp>
      <p:sp>
        <p:nvSpPr>
          <p:cNvPr id="51" name="sp51"/>
          <p:cNvSpPr>
            <a:spLocks noGrp="1"/>
          </p:cNvSpPr>
          <p:nvPr/>
        </p:nvSpPr>
        <p:spPr>
          <a:xfrm>
            <a:off x="5961888" y="33741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94A3B8"/>
                </a:solidFill>
                <a:latin typeface="Calibri"/>
              </a:rPr>
              <a:t>  Docs in both lists get boosted</a:t>
            </a:r>
          </a:p>
        </p:txBody>
      </p:sp>
      <p:sp>
        <p:nvSpPr>
          <p:cNvPr id="52" name="sp52"/>
          <p:cNvSpPr>
            <a:spLocks noGrp="1"/>
          </p:cNvSpPr>
          <p:nvPr/>
        </p:nvSpPr>
        <p:spPr>
          <a:xfrm>
            <a:off x="5961888" y="36027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94A3B8"/>
                </a:solidFill>
                <a:latin typeface="Calibri"/>
              </a:rPr>
              <a:t>  Rank-based, not score-based</a:t>
            </a:r>
          </a:p>
        </p:txBody>
      </p:sp>
      <p:sp>
        <p:nvSpPr>
          <p:cNvPr id="53" name="sp53"/>
          <p:cNvSpPr>
            <a:spLocks noGrp="1"/>
          </p:cNvSpPr>
          <p:nvPr/>
        </p:nvSpPr>
        <p:spPr>
          <a:xfrm>
            <a:off x="5961888" y="3831335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/>
            </a:r>
          </a:p>
        </p:txBody>
      </p:sp>
      <p:sp>
        <p:nvSpPr>
          <p:cNvPr id="54" name="sp54"/>
          <p:cNvSpPr>
            <a:spLocks noGrp="1"/>
          </p:cNvSpPr>
          <p:nvPr/>
        </p:nvSpPr>
        <p:spPr>
          <a:xfrm>
            <a:off x="5961888" y="4059935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Output: unified top-k results</a:t>
            </a:r>
          </a:p>
        </p:txBody>
      </p:sp>
      <p:sp>
        <p:nvSpPr>
          <p:cNvPr id="55" name="sp55"/>
          <p:cNvSpPr>
            <a:spLocks noGrp="1"/>
          </p:cNvSpPr>
          <p:nvPr/>
        </p:nvSpPr>
        <p:spPr>
          <a:xfrm>
            <a:off x="5961888" y="428853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i="1">
                <a:solidFill>
                  <a:srgbClr val="94A3B8"/>
                </a:solidFill>
                <a:latin typeface="Calibri"/>
              </a:rPr>
              <a:t>  passed to reranker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3"/>
          <p:cNvSpPr>
            <a:spLocks noGrp="1"/>
          </p:cNvSpPr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4"/>
          <p:cNvSpPr>
            <a:spLocks noGrp="1"/>
          </p:cNvSpPr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2400" dirty="0" b="1">
                <a:solidFill>
                  <a:srgbClr val="FFFFFF"/>
                </a:solidFill>
                <a:latin typeface="Calibri"/>
              </a:rPr>
              <a:t>Embedding Reranker — Precision After Recall</a:t>
            </a:r>
          </a:p>
        </p:txBody>
      </p:sp>
      <p:sp>
        <p:nvSpPr>
          <p:cNvPr id="6" name="rect6"/>
          <p:cNvSpPr>
            <a:spLocks noGrp="1"/>
          </p:cNvSpPr>
          <p:nvPr/>
        </p:nvSpPr>
        <p:spPr>
          <a:xfrm>
            <a:off x="274320" y="914400"/>
            <a:ext cx="1920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274320" y="91440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200" dirty="0" b="1">
                <a:solidFill>
                  <a:srgbClr val="3B82F6"/>
                </a:solidFill>
                <a:latin typeface="Calibri"/>
              </a:rPr>
              <a:t>Hybrid Search
Results (top-k x2)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2221992" y="1161288"/>
            <a:ext cx="2194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4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9" name="rect9"/>
          <p:cNvSpPr>
            <a:spLocks noGrp="1"/>
          </p:cNvSpPr>
          <p:nvPr/>
        </p:nvSpPr>
        <p:spPr>
          <a:xfrm>
            <a:off x="2514600" y="914400"/>
            <a:ext cx="1920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txBody>
          <a:bodyPr/>
          <a:lstStyle/>
          <a:p/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2514600" y="91440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200" dirty="0" b="1">
                <a:solidFill>
                  <a:srgbClr val="EAB308"/>
                </a:solidFill>
                <a:latin typeface="Calibri"/>
              </a:rPr>
              <a:t>Fresh Query
Embedding (OpenAI)</a:t>
            </a:r>
          </a:p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4462272" y="1161288"/>
            <a:ext cx="2194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4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12" name="rect12"/>
          <p:cNvSpPr>
            <a:spLocks noGrp="1"/>
          </p:cNvSpPr>
          <p:nvPr/>
        </p:nvSpPr>
        <p:spPr>
          <a:xfrm>
            <a:off x="4754880" y="914400"/>
            <a:ext cx="1920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4754880" y="91440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200" dirty="0" b="1">
                <a:solidFill>
                  <a:srgbClr val="F97316"/>
                </a:solidFill>
                <a:latin typeface="Calibri"/>
              </a:rPr>
              <a:t>Per-Doc
Cosine Similarity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6702552" y="1161288"/>
            <a:ext cx="2194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4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15" name="rect15"/>
          <p:cNvSpPr>
            <a:spLocks noGrp="1"/>
          </p:cNvSpPr>
          <p:nvPr/>
        </p:nvSpPr>
        <p:spPr>
          <a:xfrm>
            <a:off x="6995160" y="914400"/>
            <a:ext cx="15544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16" name="sp16"/>
          <p:cNvSpPr>
            <a:spLocks noGrp="1"/>
          </p:cNvSpPr>
          <p:nvPr/>
        </p:nvSpPr>
        <p:spPr>
          <a:xfrm>
            <a:off x="6995160" y="91440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200" dirty="0" b="1">
                <a:solidFill>
                  <a:srgbClr val="22C55E"/>
                </a:solidFill>
                <a:latin typeface="Calibri"/>
              </a:rPr>
              <a:t>Blended Score
Return top-3</a:t>
            </a:r>
          </a:p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365760" y="182880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EAB308"/>
                </a:solidFill>
                <a:latin typeface="Calibri"/>
              </a:rPr>
              <a:t>Blending Formula</a:t>
            </a:r>
          </a:p>
        </p:txBody>
      </p:sp>
      <p:sp>
        <p:nvSpPr>
          <p:cNvPr id="18" name="rect18"/>
          <p:cNvSpPr>
            <a:spLocks noGrp="1"/>
          </p:cNvSpPr>
          <p:nvPr/>
        </p:nvSpPr>
        <p:spPr>
          <a:xfrm>
            <a:off x="365760" y="2231136"/>
            <a:ext cx="7772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txBody>
          <a:bodyPr/>
          <a:lstStyle/>
          <a:p/>
        </p:txBody>
      </p:sp>
      <p:sp>
        <p:nvSpPr>
          <p:cNvPr id="19" name="sp19"/>
          <p:cNvSpPr>
            <a:spLocks noGrp="1"/>
          </p:cNvSpPr>
          <p:nvPr/>
        </p:nvSpPr>
        <p:spPr>
          <a:xfrm>
            <a:off x="457200" y="2231136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500" dirty="0" b="1">
                <a:solidFill>
                  <a:srgbClr val="FFFFFF"/>
                </a:solidFill>
                <a:latin typeface="Calibri"/>
              </a:rPr>
              <a:t>final_score  =  0.65 x rerank_score  +  0.35 x hybrid_score</a:t>
            </a:r>
          </a:p>
        </p:txBody>
      </p:sp>
      <p:sp>
        <p:nvSpPr>
          <p:cNvPr id="20" name="rect20"/>
          <p:cNvSpPr>
            <a:spLocks noGrp="1"/>
          </p:cNvSpPr>
          <p:nvPr/>
        </p:nvSpPr>
        <p:spPr>
          <a:xfrm>
            <a:off x="365760" y="2834640"/>
            <a:ext cx="7772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1" name="sp21"/>
          <p:cNvSpPr>
            <a:spLocks noGrp="1"/>
          </p:cNvSpPr>
          <p:nvPr/>
        </p:nvSpPr>
        <p:spPr>
          <a:xfrm>
            <a:off x="457200" y="283464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300" dirty="0" i="1">
                <a:solidFill>
                  <a:srgbClr val="94A3B8"/>
                </a:solidFill>
                <a:latin typeface="Calibri"/>
              </a:rPr>
              <a:t>rerank_score  =  cosine_similarity( embed(query),  embed(document) )</a:t>
            </a:r>
          </a:p>
        </p:txBody>
      </p:sp>
      <p:sp>
        <p:nvSpPr>
          <p:cNvPr id="22" name="sp22"/>
          <p:cNvSpPr>
            <a:spLocks noGrp="1"/>
          </p:cNvSpPr>
          <p:nvPr/>
        </p:nvSpPr>
        <p:spPr>
          <a:xfrm>
            <a:off x="365760" y="34290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F97316"/>
                </a:solidFill>
                <a:latin typeface="Calibri"/>
              </a:rPr>
              <a:t>Why Reranking Matters</a:t>
            </a:r>
          </a:p>
        </p:txBody>
      </p:sp>
      <p:sp>
        <p:nvSpPr>
          <p:cNvPr id="23" name="sp23"/>
          <p:cNvSpPr>
            <a:spLocks noGrp="1"/>
          </p:cNvSpPr>
          <p:nvPr/>
        </p:nvSpPr>
        <p:spPr>
          <a:xfrm>
            <a:off x="457200" y="3840480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  •  RRF retrieves broadly (high recall); reranker narrows to most relevant (high precision)</a:t>
            </a:r>
          </a:p>
        </p:txBody>
      </p:sp>
      <p:sp>
        <p:nvSpPr>
          <p:cNvPr id="24" name="sp24"/>
          <p:cNvSpPr>
            <a:spLocks noGrp="1"/>
          </p:cNvSpPr>
          <p:nvPr/>
        </p:nvSpPr>
        <p:spPr>
          <a:xfrm>
            <a:off x="457200" y="409651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  •  Direct query-doc similarity is more accurate than BM25/vector scores alone</a:t>
            </a:r>
          </a:p>
        </p:txBody>
      </p:sp>
      <p:sp>
        <p:nvSpPr>
          <p:cNvPr id="25" name="sp25"/>
          <p:cNvSpPr>
            <a:spLocks noGrp="1"/>
          </p:cNvSpPr>
          <p:nvPr/>
        </p:nvSpPr>
        <p:spPr>
          <a:xfrm>
            <a:off x="457200" y="4352544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  •  0.35 hybrid weight preserves keyword signal — vendor and alarm-ID matches are kept</a:t>
            </a:r>
          </a:p>
        </p:txBody>
      </p:sp>
      <p:sp>
        <p:nvSpPr>
          <p:cNvPr id="26" name="sp26"/>
          <p:cNvSpPr>
            <a:spLocks noGrp="1"/>
          </p:cNvSpPr>
          <p:nvPr/>
        </p:nvSpPr>
        <p:spPr>
          <a:xfrm>
            <a:off x="457200" y="4608576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  •  Input truncated at 8,000 chars to guard against oversized documents</a:t>
            </a:r>
          </a:p>
        </p:txBody>
      </p:sp>
      <p:sp>
        <p:nvSpPr>
          <p:cNvPr id="27" name="sp27"/>
          <p:cNvSpPr>
            <a:spLocks noGrp="1"/>
          </p:cNvSpPr>
          <p:nvPr/>
        </p:nvSpPr>
        <p:spPr>
          <a:xfrm>
            <a:off x="4937760" y="342900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06B6D4"/>
                </a:solidFill>
                <a:latin typeface="Calibri"/>
              </a:rPr>
              <a:t>Technical Details</a:t>
            </a:r>
          </a:p>
        </p:txBody>
      </p:sp>
      <p:sp>
        <p:nvSpPr>
          <p:cNvPr id="28" name="sp28"/>
          <p:cNvSpPr>
            <a:spLocks noGrp="1"/>
          </p:cNvSpPr>
          <p:nvPr/>
        </p:nvSpPr>
        <p:spPr>
          <a:xfrm>
            <a:off x="4937760" y="384048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Model:</a:t>
            </a:r>
          </a:p>
        </p:txBody>
      </p:sp>
      <p:sp>
        <p:nvSpPr>
          <p:cNvPr id="29" name="sp29"/>
          <p:cNvSpPr>
            <a:spLocks noGrp="1"/>
          </p:cNvSpPr>
          <p:nvPr/>
        </p:nvSpPr>
        <p:spPr>
          <a:xfrm>
            <a:off x="6172200" y="384048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text-embedding-3-small</a:t>
            </a:r>
          </a:p>
        </p:txBody>
      </p:sp>
      <p:sp>
        <p:nvSpPr>
          <p:cNvPr id="30" name="sp30"/>
          <p:cNvSpPr>
            <a:spLocks noGrp="1"/>
          </p:cNvSpPr>
          <p:nvPr/>
        </p:nvSpPr>
        <p:spPr>
          <a:xfrm>
            <a:off x="4937760" y="405079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Dimensions:</a:t>
            </a:r>
          </a:p>
        </p:txBody>
      </p:sp>
      <p:sp>
        <p:nvSpPr>
          <p:cNvPr id="31" name="sp31"/>
          <p:cNvSpPr>
            <a:spLocks noGrp="1"/>
          </p:cNvSpPr>
          <p:nvPr/>
        </p:nvSpPr>
        <p:spPr>
          <a:xfrm>
            <a:off x="6172200" y="405079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1536</a:t>
            </a:r>
          </a:p>
        </p:txBody>
      </p:sp>
      <p:sp>
        <p:nvSpPr>
          <p:cNvPr id="32" name="sp32"/>
          <p:cNvSpPr>
            <a:spLocks noGrp="1"/>
          </p:cNvSpPr>
          <p:nvPr/>
        </p:nvSpPr>
        <p:spPr>
          <a:xfrm>
            <a:off x="4937760" y="426110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Input guard:</a:t>
            </a:r>
          </a:p>
        </p:txBody>
      </p:sp>
      <p:sp>
        <p:nvSpPr>
          <p:cNvPr id="33" name="sp33"/>
          <p:cNvSpPr>
            <a:spLocks noGrp="1"/>
          </p:cNvSpPr>
          <p:nvPr/>
        </p:nvSpPr>
        <p:spPr>
          <a:xfrm>
            <a:off x="6172200" y="4261104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first 8,000 chars</a:t>
            </a:r>
          </a:p>
        </p:txBody>
      </p:sp>
      <p:sp>
        <p:nvSpPr>
          <p:cNvPr id="34" name="sp34"/>
          <p:cNvSpPr>
            <a:spLocks noGrp="1"/>
          </p:cNvSpPr>
          <p:nvPr/>
        </p:nvSpPr>
        <p:spPr>
          <a:xfrm>
            <a:off x="4937760" y="447141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Rerank weight:</a:t>
            </a:r>
          </a:p>
        </p:txBody>
      </p:sp>
      <p:sp>
        <p:nvSpPr>
          <p:cNvPr id="35" name="sp35"/>
          <p:cNvSpPr>
            <a:spLocks noGrp="1"/>
          </p:cNvSpPr>
          <p:nvPr/>
        </p:nvSpPr>
        <p:spPr>
          <a:xfrm>
            <a:off x="6172200" y="447141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65%</a:t>
            </a:r>
          </a:p>
        </p:txBody>
      </p:sp>
      <p:sp>
        <p:nvSpPr>
          <p:cNvPr id="36" name="sp36"/>
          <p:cNvSpPr>
            <a:spLocks noGrp="1"/>
          </p:cNvSpPr>
          <p:nvPr/>
        </p:nvSpPr>
        <p:spPr>
          <a:xfrm>
            <a:off x="4937760" y="468172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Hybrid weight:</a:t>
            </a:r>
          </a:p>
        </p:txBody>
      </p:sp>
      <p:sp>
        <p:nvSpPr>
          <p:cNvPr id="37" name="sp37"/>
          <p:cNvSpPr>
            <a:spLocks noGrp="1"/>
          </p:cNvSpPr>
          <p:nvPr/>
        </p:nvSpPr>
        <p:spPr>
          <a:xfrm>
            <a:off x="6172200" y="468172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35%</a:t>
            </a:r>
          </a:p>
        </p:txBody>
      </p:sp>
      <p:sp>
        <p:nvSpPr>
          <p:cNvPr id="38" name="sp38"/>
          <p:cNvSpPr>
            <a:spLocks noGrp="1"/>
          </p:cNvSpPr>
          <p:nvPr/>
        </p:nvSpPr>
        <p:spPr>
          <a:xfrm>
            <a:off x="4937760" y="489204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Output:</a:t>
            </a:r>
          </a:p>
        </p:txBody>
      </p:sp>
      <p:sp>
        <p:nvSpPr>
          <p:cNvPr id="39" name="sp39"/>
          <p:cNvSpPr>
            <a:spLocks noGrp="1"/>
          </p:cNvSpPr>
          <p:nvPr/>
        </p:nvSpPr>
        <p:spPr>
          <a:xfrm>
            <a:off x="6172200" y="489204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top-3 reranked docs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3"/>
          <p:cNvSpPr>
            <a:spLocks noGrp="1"/>
          </p:cNvSpPr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4"/>
          <p:cNvSpPr>
            <a:spLocks noGrp="1"/>
          </p:cNvSpPr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2400" dirty="0" b="1">
                <a:solidFill>
                  <a:srgbClr val="FFFFFF"/>
                </a:solidFill>
                <a:latin typeface="Calibri"/>
              </a:rPr>
              <a:t>A2A Agent-to-Agent Communication Protocol</a:t>
            </a:r>
          </a:p>
        </p:txBody>
      </p:sp>
      <p:sp>
        <p:nvSpPr>
          <p:cNvPr id="6" name="sp6"/>
          <p:cNvSpPr>
            <a:spLocks noGrp="1"/>
          </p:cNvSpPr>
          <p:nvPr/>
        </p:nvSpPr>
        <p:spPr>
          <a:xfrm>
            <a:off x="365760" y="82296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3B82F6"/>
                </a:solidFill>
                <a:latin typeface="Calibri"/>
              </a:rPr>
              <a:t>Message Types</a:t>
            </a:r>
          </a:p>
        </p:txBody>
      </p:sp>
      <p:sp>
        <p:nvSpPr>
          <p:cNvPr id="7" name="rect7"/>
          <p:cNvSpPr>
            <a:spLocks noGrp="1"/>
          </p:cNvSpPr>
          <p:nvPr/>
        </p:nvSpPr>
        <p:spPr>
          <a:xfrm>
            <a:off x="365760" y="1234440"/>
            <a:ext cx="13258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365760" y="1234440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100" dirty="0" b="1">
                <a:solidFill>
                  <a:srgbClr val="3B82F6"/>
                </a:solidFill>
                <a:latin typeface="Calibri"/>
              </a:rPr>
              <a:t>REQUEST</a:t>
            </a:r>
          </a:p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1783080" y="127101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One agent asks another to perform work</a:t>
            </a:r>
          </a:p>
        </p:txBody>
      </p:sp>
      <p:sp>
        <p:nvSpPr>
          <p:cNvPr id="10" name="rect10"/>
          <p:cNvSpPr>
            <a:spLocks noGrp="1"/>
          </p:cNvSpPr>
          <p:nvPr/>
        </p:nvSpPr>
        <p:spPr>
          <a:xfrm>
            <a:off x="365760" y="1645920"/>
            <a:ext cx="13258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365760" y="1645920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100" dirty="0" b="1">
                <a:solidFill>
                  <a:srgbClr val="22C55E"/>
                </a:solidFill>
                <a:latin typeface="Calibri"/>
              </a:rPr>
              <a:t>RESPONSE</a:t>
            </a:r>
          </a:p>
        </p:txBody>
      </p:sp>
      <p:sp>
        <p:nvSpPr>
          <p:cNvPr id="12" name="sp12"/>
          <p:cNvSpPr>
            <a:spLocks noGrp="1"/>
          </p:cNvSpPr>
          <p:nvPr/>
        </p:nvSpPr>
        <p:spPr>
          <a:xfrm>
            <a:off x="1783080" y="168249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Reply to REQUEST — shares correlation_id</a:t>
            </a:r>
          </a:p>
        </p:txBody>
      </p:sp>
      <p:sp>
        <p:nvSpPr>
          <p:cNvPr id="13" name="rect13"/>
          <p:cNvSpPr>
            <a:spLocks noGrp="1"/>
          </p:cNvSpPr>
          <p:nvPr/>
        </p:nvSpPr>
        <p:spPr>
          <a:xfrm>
            <a:off x="365760" y="2057400"/>
            <a:ext cx="13258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txBody>
          <a:bodyPr/>
          <a:lstStyle/>
          <a:p/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365760" y="2057400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100" dirty="0" b="1">
                <a:solidFill>
                  <a:srgbClr val="EF4444"/>
                </a:solidFill>
                <a:latin typeface="Calibri"/>
              </a:rPr>
              <a:t>ESCALATION</a:t>
            </a:r>
          </a:p>
        </p:txBody>
      </p:sp>
      <p:sp>
        <p:nvSpPr>
          <p:cNvPr id="15" name="sp15"/>
          <p:cNvSpPr>
            <a:spLocks noGrp="1"/>
          </p:cNvSpPr>
          <p:nvPr/>
        </p:nvSpPr>
        <p:spPr>
          <a:xfrm>
            <a:off x="1783080" y="209397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Urgent: triggers expanded retrieval (top_k 10)</a:t>
            </a:r>
          </a:p>
        </p:txBody>
      </p:sp>
      <p:sp>
        <p:nvSpPr>
          <p:cNvPr id="16" name="rect16"/>
          <p:cNvSpPr>
            <a:spLocks noGrp="1"/>
          </p:cNvSpPr>
          <p:nvPr/>
        </p:nvSpPr>
        <p:spPr>
          <a:xfrm>
            <a:off x="365760" y="2468880"/>
            <a:ext cx="13258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txBody>
          <a:bodyPr/>
          <a:lstStyle/>
          <a:p/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365760" y="2468880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100" dirty="0" b="1">
                <a:solidFill>
                  <a:srgbClr val="EAB308"/>
                </a:solidFill>
                <a:latin typeface="Calibri"/>
              </a:rPr>
              <a:t>NOTIFICATION</a:t>
            </a:r>
          </a:p>
        </p:txBody>
      </p:sp>
      <p:sp>
        <p:nvSpPr>
          <p:cNvPr id="18" name="sp18"/>
          <p:cNvSpPr>
            <a:spLocks noGrp="1"/>
          </p:cNvSpPr>
          <p:nvPr/>
        </p:nvSpPr>
        <p:spPr>
          <a:xfrm>
            <a:off x="1783080" y="250545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One-way informational push to downstream agents</a:t>
            </a:r>
          </a:p>
        </p:txBody>
      </p:sp>
      <p:sp>
        <p:nvSpPr>
          <p:cNvPr id="19" name="rect19"/>
          <p:cNvSpPr>
            <a:spLocks noGrp="1"/>
          </p:cNvSpPr>
          <p:nvPr/>
        </p:nvSpPr>
        <p:spPr>
          <a:xfrm>
            <a:off x="365760" y="2880360"/>
            <a:ext cx="13258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txBody>
          <a:bodyPr/>
          <a:lstStyle/>
          <a:p/>
        </p:txBody>
      </p:sp>
      <p:sp>
        <p:nvSpPr>
          <p:cNvPr id="20" name="sp20"/>
          <p:cNvSpPr>
            <a:spLocks noGrp="1"/>
          </p:cNvSpPr>
          <p:nvPr/>
        </p:nvSpPr>
        <p:spPr>
          <a:xfrm>
            <a:off x="365760" y="2880360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100" dirty="0" b="1">
                <a:solidFill>
                  <a:srgbClr val="06B6D4"/>
                </a:solidFill>
                <a:latin typeface="Calibri"/>
              </a:rPr>
              <a:t>BROADCAST</a:t>
            </a:r>
          </a:p>
        </p:txBody>
      </p:sp>
      <p:sp>
        <p:nvSpPr>
          <p:cNvPr id="21" name="sp21"/>
          <p:cNvSpPr>
            <a:spLocks noGrp="1"/>
          </p:cNvSpPr>
          <p:nvPr/>
        </p:nvSpPr>
        <p:spPr>
          <a:xfrm>
            <a:off x="1783080" y="291693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Delivered to every registered agent on the bus</a:t>
            </a:r>
          </a:p>
        </p:txBody>
      </p:sp>
      <p:sp>
        <p:nvSpPr>
          <p:cNvPr id="22" name="rect22"/>
          <p:cNvSpPr>
            <a:spLocks noGrp="1"/>
          </p:cNvSpPr>
          <p:nvPr/>
        </p:nvSpPr>
        <p:spPr>
          <a:xfrm>
            <a:off x="365760" y="3291840"/>
            <a:ext cx="13258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23" name="sp23"/>
          <p:cNvSpPr>
            <a:spLocks noGrp="1"/>
          </p:cNvSpPr>
          <p:nvPr/>
        </p:nvSpPr>
        <p:spPr>
          <a:xfrm>
            <a:off x="365760" y="3291840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100" dirty="0" b="1">
                <a:solidFill>
                  <a:srgbClr val="94A3B8"/>
                </a:solidFill>
                <a:latin typeface="Calibri"/>
              </a:rPr>
              <a:t>ACK</a:t>
            </a:r>
          </a:p>
        </p:txBody>
      </p:sp>
      <p:sp>
        <p:nvSpPr>
          <p:cNvPr id="24" name="sp24"/>
          <p:cNvSpPr>
            <a:spLocks noGrp="1"/>
          </p:cNvSpPr>
          <p:nvPr/>
        </p:nvSpPr>
        <p:spPr>
          <a:xfrm>
            <a:off x="1783080" y="332841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Lightweight acknowledgement</a:t>
            </a:r>
          </a:p>
        </p:txBody>
      </p:sp>
      <p:sp>
        <p:nvSpPr>
          <p:cNvPr id="25" name="sp25"/>
          <p:cNvSpPr>
            <a:spLocks noGrp="1"/>
          </p:cNvSpPr>
          <p:nvPr/>
        </p:nvSpPr>
        <p:spPr>
          <a:xfrm>
            <a:off x="4572000" y="8229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06B6D4"/>
                </a:solidFill>
                <a:latin typeface="Calibri"/>
              </a:rPr>
              <a:t>A2ABus Architecture</a:t>
            </a:r>
          </a:p>
        </p:txBody>
      </p:sp>
      <p:sp>
        <p:nvSpPr>
          <p:cNvPr id="26" name="sp26"/>
          <p:cNvSpPr>
            <a:spLocks noGrp="1"/>
          </p:cNvSpPr>
          <p:nvPr/>
        </p:nvSpPr>
        <p:spPr>
          <a:xfrm>
            <a:off x="4572000" y="123444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Fresh A2ABus instance per request — no cross-request leakage</a:t>
            </a:r>
          </a:p>
        </p:txBody>
      </p:sp>
      <p:sp>
        <p:nvSpPr>
          <p:cNvPr id="27" name="sp27"/>
          <p:cNvSpPr>
            <a:spLocks noGrp="1"/>
          </p:cNvSpPr>
          <p:nvPr/>
        </p:nvSpPr>
        <p:spPr>
          <a:xfrm>
            <a:off x="4572000" y="1591056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Agents register with optional handler callback</a:t>
            </a:r>
          </a:p>
        </p:txBody>
      </p:sp>
      <p:sp>
        <p:nvSpPr>
          <p:cNvPr id="28" name="sp28"/>
          <p:cNvSpPr>
            <a:spLocks noGrp="1"/>
          </p:cNvSpPr>
          <p:nvPr/>
        </p:nvSpPr>
        <p:spPr>
          <a:xfrm>
            <a:off x="4572000" y="1947672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REQUEST/ESCALATION -&gt; sync dispatch -&gt; RESPONSE in sender inbox</a:t>
            </a:r>
          </a:p>
        </p:txBody>
      </p:sp>
      <p:sp>
        <p:nvSpPr>
          <p:cNvPr id="29" name="sp29"/>
          <p:cNvSpPr>
            <a:spLocks noGrp="1"/>
          </p:cNvSpPr>
          <p:nvPr/>
        </p:nvSpPr>
        <p:spPr>
          <a:xfrm>
            <a:off x="4572000" y="2304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BROADCAST -&gt; delivered to all mailboxes except sender</a:t>
            </a:r>
          </a:p>
        </p:txBody>
      </p:sp>
      <p:sp>
        <p:nvSpPr>
          <p:cNvPr id="30" name="sp30"/>
          <p:cNvSpPr>
            <a:spLocks noGrp="1"/>
          </p:cNvSpPr>
          <p:nvPr/>
        </p:nvSpPr>
        <p:spPr>
          <a:xfrm>
            <a:off x="4572000" y="2660904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Full ordered message history returned in API as a2a_messages</a:t>
            </a:r>
          </a:p>
        </p:txBody>
      </p:sp>
      <p:sp>
        <p:nvSpPr>
          <p:cNvPr id="31" name="sp31"/>
          <p:cNvSpPr>
            <a:spLocks noGrp="1"/>
          </p:cNvSpPr>
          <p:nvPr/>
        </p:nvSpPr>
        <p:spPr>
          <a:xfrm>
            <a:off x="4572000" y="301752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24+ messages per typical workflow</a:t>
            </a:r>
          </a:p>
        </p:txBody>
      </p:sp>
      <p:sp>
        <p:nvSpPr>
          <p:cNvPr id="32" name="sp32"/>
          <p:cNvSpPr>
            <a:spLocks noGrp="1"/>
          </p:cNvSpPr>
          <p:nvPr/>
        </p:nvSpPr>
        <p:spPr>
          <a:xfrm>
            <a:off x="4572000" y="3374136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• Correlation IDs link every REQUEST &lt;-&gt; RESPONSE pair</a:t>
            </a:r>
          </a:p>
        </p:txBody>
      </p:sp>
      <p:sp>
        <p:nvSpPr>
          <p:cNvPr id="33" name="sp33"/>
          <p:cNvSpPr>
            <a:spLocks noGrp="1"/>
          </p:cNvSpPr>
          <p:nvPr/>
        </p:nvSpPr>
        <p:spPr>
          <a:xfrm>
            <a:off x="365760" y="3749039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EF4444"/>
                </a:solidFill>
                <a:latin typeface="Calibri"/>
              </a:rPr>
              <a:t>Built-in Escalation Paths</a:t>
            </a:r>
          </a:p>
        </p:txBody>
      </p:sp>
      <p:sp>
        <p:nvSpPr>
          <p:cNvPr id="34" name="rect34"/>
          <p:cNvSpPr>
            <a:spLocks noGrp="1"/>
          </p:cNvSpPr>
          <p:nvPr/>
        </p:nvSpPr>
        <p:spPr>
          <a:xfrm>
            <a:off x="365760" y="4160520"/>
            <a:ext cx="21031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35" name="sp35"/>
          <p:cNvSpPr>
            <a:spLocks noGrp="1"/>
          </p:cNvSpPr>
          <p:nvPr/>
        </p:nvSpPr>
        <p:spPr>
          <a:xfrm>
            <a:off x="365760" y="416052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 b="1">
                <a:solidFill>
                  <a:srgbClr val="F97316"/>
                </a:solidFill>
                <a:latin typeface="Calibri"/>
              </a:rPr>
              <a:t>Critical severity detected</a:t>
            </a:r>
          </a:p>
        </p:txBody>
      </p:sp>
      <p:sp>
        <p:nvSpPr>
          <p:cNvPr id="36" name="sp36"/>
          <p:cNvSpPr>
            <a:spLocks noGrp="1"/>
          </p:cNvSpPr>
          <p:nvPr/>
        </p:nvSpPr>
        <p:spPr>
          <a:xfrm>
            <a:off x="2560320" y="4160520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-&gt;  AlarmRetrieval -&gt; ESCALATION broadcast -&gt; top_k expands from 5 to 10</a:t>
            </a:r>
          </a:p>
        </p:txBody>
      </p:sp>
      <p:sp>
        <p:nvSpPr>
          <p:cNvPr id="37" name="rect37"/>
          <p:cNvSpPr>
            <a:spLocks noGrp="1"/>
          </p:cNvSpPr>
          <p:nvPr/>
        </p:nvSpPr>
        <p:spPr>
          <a:xfrm>
            <a:off x="365760" y="4507992"/>
            <a:ext cx="21031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38" name="sp38"/>
          <p:cNvSpPr>
            <a:spLocks noGrp="1"/>
          </p:cNvSpPr>
          <p:nvPr/>
        </p:nvSpPr>
        <p:spPr>
          <a:xfrm>
            <a:off x="365760" y="450799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 b="1">
                <a:solidFill>
                  <a:srgbClr val="F97316"/>
                </a:solidFill>
                <a:latin typeface="Calibri"/>
              </a:rPr>
              <a:t>Confidence &lt; 50%</a:t>
            </a:r>
          </a:p>
        </p:txBody>
      </p:sp>
      <p:sp>
        <p:nvSpPr>
          <p:cNvPr id="39" name="sp39"/>
          <p:cNvSpPr>
            <a:spLocks noGrp="1"/>
          </p:cNvSpPr>
          <p:nvPr/>
        </p:nvSpPr>
        <p:spPr>
          <a:xfrm>
            <a:off x="2560320" y="4507992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-&gt;  RootCauseAgent -&gt; REQUEST to AlarmRetrieval -&gt; richer context -&gt; re-run</a:t>
            </a:r>
          </a:p>
        </p:txBody>
      </p:sp>
      <p:sp>
        <p:nvSpPr>
          <p:cNvPr id="40" name="rect40"/>
          <p:cNvSpPr>
            <a:spLocks noGrp="1"/>
          </p:cNvSpPr>
          <p:nvPr/>
        </p:nvSpPr>
        <p:spPr>
          <a:xfrm>
            <a:off x="365760" y="4855464"/>
            <a:ext cx="21031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41" name="sp41"/>
          <p:cNvSpPr>
            <a:spLocks noGrp="1"/>
          </p:cNvSpPr>
          <p:nvPr/>
        </p:nvSpPr>
        <p:spPr>
          <a:xfrm>
            <a:off x="365760" y="4855464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000" dirty="0" b="1">
                <a:solidFill>
                  <a:srgbClr val="F97316"/>
                </a:solidFill>
                <a:latin typeface="Calibri"/>
              </a:rPr>
              <a:t>Correlation strength &gt;= 70%</a:t>
            </a:r>
          </a:p>
        </p:txBody>
      </p:sp>
      <p:sp>
        <p:nvSpPr>
          <p:cNvPr id="42" name="sp42"/>
          <p:cNvSpPr>
            <a:spLocks noGrp="1"/>
          </p:cNvSpPr>
          <p:nvPr/>
        </p:nvSpPr>
        <p:spPr>
          <a:xfrm>
            <a:off x="2560320" y="4855464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-&gt;  Orchestrator -&gt; NOTIFICATION 'cascade_analysis' -&gt; Impact &amp; Resolution adjust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3"/>
          <p:cNvSpPr>
            <a:spLocks noGrp="1"/>
          </p:cNvSpPr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4"/>
          <p:cNvSpPr>
            <a:spLocks noGrp="1"/>
          </p:cNvSpPr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2400" dirty="0" b="1">
                <a:solidFill>
                  <a:srgbClr val="FFFFFF"/>
                </a:solidFill>
                <a:latin typeface="Calibri"/>
              </a:rPr>
              <a:t>5-Step Multi-Agent Workflow</a:t>
            </a:r>
          </a:p>
        </p:txBody>
      </p:sp>
      <p:sp>
        <p:nvSpPr>
          <p:cNvPr id="6" name="rect6"/>
          <p:cNvSpPr>
            <a:spLocks noGrp="1"/>
          </p:cNvSpPr>
          <p:nvPr/>
        </p:nvSpPr>
        <p:spPr>
          <a:xfrm>
            <a:off x="137160" y="822960"/>
            <a:ext cx="15087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137160" y="82296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100" dirty="0" b="1">
                <a:solidFill>
                  <a:srgbClr val="3B82F6"/>
                </a:solidFill>
                <a:latin typeface="Calibri"/>
              </a:rPr>
              <a:t>Step 1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137160" y="1170432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200" dirty="0" b="1">
                <a:solidFill>
                  <a:srgbClr val="FFFFFF"/>
                </a:solidFill>
                <a:latin typeface="Calibri"/>
              </a:rPr>
              <a:t>AlarmRetrieval
Agent</a:t>
            </a:r>
          </a:p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1655064" y="1051560"/>
            <a:ext cx="146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137160" y="1627632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Receives hybrid+reranked incidents</a:t>
            </a:r>
          </a:p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137160" y="202996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Filters region/tech/vendor/severity</a:t>
            </a:r>
          </a:p>
        </p:txBody>
      </p:sp>
      <p:sp>
        <p:nvSpPr>
          <p:cNvPr id="12" name="sp12"/>
          <p:cNvSpPr>
            <a:spLocks noGrp="1"/>
          </p:cNvSpPr>
          <p:nvPr/>
        </p:nvSpPr>
        <p:spPr>
          <a:xfrm>
            <a:off x="137160" y="2432304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Sends NOTIFICATION to bus</a:t>
            </a:r>
          </a:p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137160" y="283464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CRITICAL -&gt; ESCALATION broadcast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137160" y="3236976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On low-conf REQUEST -&gt; expand results</a:t>
            </a:r>
          </a:p>
        </p:txBody>
      </p:sp>
      <p:sp>
        <p:nvSpPr>
          <p:cNvPr id="15" name="rect15"/>
          <p:cNvSpPr>
            <a:spLocks noGrp="1"/>
          </p:cNvSpPr>
          <p:nvPr/>
        </p:nvSpPr>
        <p:spPr>
          <a:xfrm>
            <a:off x="1810512" y="822960"/>
            <a:ext cx="15087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txBody>
          <a:bodyPr/>
          <a:lstStyle/>
          <a:p/>
        </p:txBody>
      </p:sp>
      <p:sp>
        <p:nvSpPr>
          <p:cNvPr id="16" name="sp16"/>
          <p:cNvSpPr>
            <a:spLocks noGrp="1"/>
          </p:cNvSpPr>
          <p:nvPr/>
        </p:nvSpPr>
        <p:spPr>
          <a:xfrm>
            <a:off x="1810512" y="82296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100" dirty="0" b="1">
                <a:solidFill>
                  <a:srgbClr val="EAB308"/>
                </a:solidFill>
                <a:latin typeface="Calibri"/>
              </a:rPr>
              <a:t>Step 2</a:t>
            </a:r>
          </a:p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1810512" y="1170432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200" dirty="0" b="1">
                <a:solidFill>
                  <a:srgbClr val="FFFFFF"/>
                </a:solidFill>
                <a:latin typeface="Calibri"/>
              </a:rPr>
              <a:t>RootCause
Analysis Agent</a:t>
            </a:r>
          </a:p>
        </p:txBody>
      </p:sp>
      <p:sp>
        <p:nvSpPr>
          <p:cNvPr id="18" name="sp18"/>
          <p:cNvSpPr>
            <a:spLocks noGrp="1"/>
          </p:cNvSpPr>
          <p:nvPr/>
        </p:nvSpPr>
        <p:spPr>
          <a:xfrm>
            <a:off x="3328416" y="1051560"/>
            <a:ext cx="146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19" name="sp19"/>
          <p:cNvSpPr>
            <a:spLocks noGrp="1"/>
          </p:cNvSpPr>
          <p:nvPr/>
        </p:nvSpPr>
        <p:spPr>
          <a:xfrm>
            <a:off x="1810512" y="1627632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LLM: primary &amp; secondary causes</a:t>
            </a:r>
          </a:p>
        </p:txBody>
      </p:sp>
      <p:sp>
        <p:nvSpPr>
          <p:cNvPr id="20" name="sp20"/>
          <p:cNvSpPr>
            <a:spLocks noGrp="1"/>
          </p:cNvSpPr>
          <p:nvPr/>
        </p:nvSpPr>
        <p:spPr>
          <a:xfrm>
            <a:off x="1810512" y="202996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Assigns confidence score 0-1</a:t>
            </a:r>
          </a:p>
        </p:txBody>
      </p:sp>
      <p:sp>
        <p:nvSpPr>
          <p:cNvPr id="21" name="sp21"/>
          <p:cNvSpPr>
            <a:spLocks noGrp="1"/>
          </p:cNvSpPr>
          <p:nvPr/>
        </p:nvSpPr>
        <p:spPr>
          <a:xfrm>
            <a:off x="1810512" y="2432304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Probable causes with % breakdown</a:t>
            </a:r>
          </a:p>
        </p:txBody>
      </p:sp>
      <p:sp>
        <p:nvSpPr>
          <p:cNvPr id="22" name="sp22"/>
          <p:cNvSpPr>
            <a:spLocks noGrp="1"/>
          </p:cNvSpPr>
          <p:nvPr/>
        </p:nvSpPr>
        <p:spPr>
          <a:xfrm>
            <a:off x="1810512" y="283464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If conf &lt; 0.50 -&gt; request more data</a:t>
            </a:r>
          </a:p>
        </p:txBody>
      </p:sp>
      <p:sp>
        <p:nvSpPr>
          <p:cNvPr id="23" name="sp23"/>
          <p:cNvSpPr>
            <a:spLocks noGrp="1"/>
          </p:cNvSpPr>
          <p:nvPr/>
        </p:nvSpPr>
        <p:spPr>
          <a:xfrm>
            <a:off x="1810512" y="3236976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Broadcasts NOTIFICATION rca_complete</a:t>
            </a:r>
          </a:p>
        </p:txBody>
      </p:sp>
      <p:sp>
        <p:nvSpPr>
          <p:cNvPr id="24" name="rect24"/>
          <p:cNvSpPr>
            <a:spLocks noGrp="1"/>
          </p:cNvSpPr>
          <p:nvPr/>
        </p:nvSpPr>
        <p:spPr>
          <a:xfrm>
            <a:off x="3483864" y="822960"/>
            <a:ext cx="15087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25" name="sp25"/>
          <p:cNvSpPr>
            <a:spLocks noGrp="1"/>
          </p:cNvSpPr>
          <p:nvPr/>
        </p:nvSpPr>
        <p:spPr>
          <a:xfrm>
            <a:off x="3483864" y="82296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100" dirty="0" b="1">
                <a:solidFill>
                  <a:srgbClr val="F97316"/>
                </a:solidFill>
                <a:latin typeface="Calibri"/>
              </a:rPr>
              <a:t>Step 3</a:t>
            </a:r>
          </a:p>
        </p:txBody>
      </p:sp>
      <p:sp>
        <p:nvSpPr>
          <p:cNvPr id="26" name="sp26"/>
          <p:cNvSpPr>
            <a:spLocks noGrp="1"/>
          </p:cNvSpPr>
          <p:nvPr/>
        </p:nvSpPr>
        <p:spPr>
          <a:xfrm>
            <a:off x="3483864" y="1170432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200" dirty="0" b="1">
                <a:solidFill>
                  <a:srgbClr val="FFFFFF"/>
                </a:solidFill>
                <a:latin typeface="Calibri"/>
              </a:rPr>
              <a:t>Alarm
Correlation</a:t>
            </a:r>
          </a:p>
        </p:txBody>
      </p:sp>
      <p:sp>
        <p:nvSpPr>
          <p:cNvPr id="27" name="sp27"/>
          <p:cNvSpPr>
            <a:spLocks noGrp="1"/>
          </p:cNvSpPr>
          <p:nvPr/>
        </p:nvSpPr>
        <p:spPr>
          <a:xfrm>
            <a:off x="5001768" y="1051560"/>
            <a:ext cx="146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28" name="sp28"/>
          <p:cNvSpPr>
            <a:spLocks noGrp="1"/>
          </p:cNvSpPr>
          <p:nvPr/>
        </p:nvSpPr>
        <p:spPr>
          <a:xfrm>
            <a:off x="3483864" y="1627632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Statistical correlation analysis</a:t>
            </a:r>
          </a:p>
        </p:txBody>
      </p:sp>
      <p:sp>
        <p:nvSpPr>
          <p:cNvPr id="29" name="sp29"/>
          <p:cNvSpPr>
            <a:spLocks noGrp="1"/>
          </p:cNvSpPr>
          <p:nvPr/>
        </p:nvSpPr>
        <p:spPr>
          <a:xfrm>
            <a:off x="3483864" y="202996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Region/tech/vendor/time overlaps</a:t>
            </a:r>
          </a:p>
        </p:txBody>
      </p:sp>
      <p:sp>
        <p:nvSpPr>
          <p:cNvPr id="30" name="sp30"/>
          <p:cNvSpPr>
            <a:spLocks noGrp="1"/>
          </p:cNvSpPr>
          <p:nvPr/>
        </p:nvSpPr>
        <p:spPr>
          <a:xfrm>
            <a:off x="3483864" y="2432304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Score: 0.0 to 1.0</a:t>
            </a:r>
          </a:p>
        </p:txBody>
      </p:sp>
      <p:sp>
        <p:nvSpPr>
          <p:cNvPr id="31" name="sp31"/>
          <p:cNvSpPr>
            <a:spLocks noGrp="1"/>
          </p:cNvSpPr>
          <p:nvPr/>
        </p:nvSpPr>
        <p:spPr>
          <a:xfrm>
            <a:off x="3483864" y="283464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Score &gt;= 0.70 -&gt; cascade broadcast</a:t>
            </a:r>
          </a:p>
        </p:txBody>
      </p:sp>
      <p:sp>
        <p:nvSpPr>
          <p:cNvPr id="32" name="sp32"/>
          <p:cNvSpPr>
            <a:spLocks noGrp="1"/>
          </p:cNvSpPr>
          <p:nvPr/>
        </p:nvSpPr>
        <p:spPr>
          <a:xfrm>
            <a:off x="3483864" y="3236976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Downstream agents adjust analysis</a:t>
            </a:r>
          </a:p>
        </p:txBody>
      </p:sp>
      <p:sp>
        <p:nvSpPr>
          <p:cNvPr id="33" name="rect33"/>
          <p:cNvSpPr>
            <a:spLocks noGrp="1"/>
          </p:cNvSpPr>
          <p:nvPr/>
        </p:nvSpPr>
        <p:spPr>
          <a:xfrm>
            <a:off x="5157216" y="822960"/>
            <a:ext cx="15087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txBody>
          <a:bodyPr/>
          <a:lstStyle/>
          <a:p/>
        </p:txBody>
      </p:sp>
      <p:sp>
        <p:nvSpPr>
          <p:cNvPr id="34" name="sp34"/>
          <p:cNvSpPr>
            <a:spLocks noGrp="1"/>
          </p:cNvSpPr>
          <p:nvPr/>
        </p:nvSpPr>
        <p:spPr>
          <a:xfrm>
            <a:off x="5157216" y="82296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100" dirty="0" b="1">
                <a:solidFill>
                  <a:srgbClr val="EF4444"/>
                </a:solidFill>
                <a:latin typeface="Calibri"/>
              </a:rPr>
              <a:t>Step 4</a:t>
            </a:r>
          </a:p>
        </p:txBody>
      </p:sp>
      <p:sp>
        <p:nvSpPr>
          <p:cNvPr id="35" name="sp35"/>
          <p:cNvSpPr>
            <a:spLocks noGrp="1"/>
          </p:cNvSpPr>
          <p:nvPr/>
        </p:nvSpPr>
        <p:spPr>
          <a:xfrm>
            <a:off x="5157216" y="1170432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200" dirty="0" b="1">
                <a:solidFill>
                  <a:srgbClr val="FFFFFF"/>
                </a:solidFill>
                <a:latin typeface="Calibri"/>
              </a:rPr>
              <a:t>ServiceImpact
Agent</a:t>
            </a:r>
          </a:p>
        </p:txBody>
      </p:sp>
      <p:sp>
        <p:nvSpPr>
          <p:cNvPr id="36" name="sp36"/>
          <p:cNvSpPr>
            <a:spLocks noGrp="1"/>
          </p:cNvSpPr>
          <p:nvPr/>
        </p:nvSpPr>
        <p:spPr>
          <a:xfrm>
            <a:off x="6675120" y="1051560"/>
            <a:ext cx="146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>
                <a:solidFill>
                  <a:srgbClr val="94A3B8"/>
                </a:solidFill>
                <a:latin typeface="Calibri"/>
              </a:rPr>
              <a:t>&gt;</a:t>
            </a:r>
          </a:p>
        </p:txBody>
      </p:sp>
      <p:sp>
        <p:nvSpPr>
          <p:cNvPr id="37" name="sp37"/>
          <p:cNvSpPr>
            <a:spLocks noGrp="1"/>
          </p:cNvSpPr>
          <p:nvPr/>
        </p:nvSpPr>
        <p:spPr>
          <a:xfrm>
            <a:off x="5157216" y="1627632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Reads cascade_analysis from inbox</a:t>
            </a:r>
          </a:p>
        </p:txBody>
      </p:sp>
      <p:sp>
        <p:nvSpPr>
          <p:cNvPr id="38" name="sp38"/>
          <p:cNvSpPr>
            <a:spLocks noGrp="1"/>
          </p:cNvSpPr>
          <p:nvPr/>
        </p:nvSpPr>
        <p:spPr>
          <a:xfrm>
            <a:off x="5157216" y="202996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LLM: customer/network/biz impact</a:t>
            </a:r>
          </a:p>
        </p:txBody>
      </p:sp>
      <p:sp>
        <p:nvSpPr>
          <p:cNvPr id="39" name="sp39"/>
          <p:cNvSpPr>
            <a:spLocks noGrp="1"/>
          </p:cNvSpPr>
          <p:nvPr/>
        </p:nvSpPr>
        <p:spPr>
          <a:xfrm>
            <a:off x="5157216" y="2432304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Priority: critical/high/medium/low</a:t>
            </a:r>
          </a:p>
        </p:txBody>
      </p:sp>
      <p:sp>
        <p:nvSpPr>
          <p:cNvPr id="40" name="sp40"/>
          <p:cNvSpPr>
            <a:spLocks noGrp="1"/>
          </p:cNvSpPr>
          <p:nvPr/>
        </p:nvSpPr>
        <p:spPr>
          <a:xfrm>
            <a:off x="5157216" y="283464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Lists affected services</a:t>
            </a:r>
          </a:p>
        </p:txBody>
      </p:sp>
      <p:sp>
        <p:nvSpPr>
          <p:cNvPr id="41" name="sp41"/>
          <p:cNvSpPr>
            <a:spLocks noGrp="1"/>
          </p:cNvSpPr>
          <p:nvPr/>
        </p:nvSpPr>
        <p:spPr>
          <a:xfrm>
            <a:off x="5157216" y="3236976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0-incident default: No Evidence</a:t>
            </a:r>
          </a:p>
        </p:txBody>
      </p:sp>
      <p:sp>
        <p:nvSpPr>
          <p:cNvPr id="42" name="rect42"/>
          <p:cNvSpPr>
            <a:spLocks noGrp="1"/>
          </p:cNvSpPr>
          <p:nvPr/>
        </p:nvSpPr>
        <p:spPr>
          <a:xfrm>
            <a:off x="6830568" y="822960"/>
            <a:ext cx="15087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43" name="sp43"/>
          <p:cNvSpPr>
            <a:spLocks noGrp="1"/>
          </p:cNvSpPr>
          <p:nvPr/>
        </p:nvSpPr>
        <p:spPr>
          <a:xfrm>
            <a:off x="6830568" y="82296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100" dirty="0" b="1">
                <a:solidFill>
                  <a:srgbClr val="22C55E"/>
                </a:solidFill>
                <a:latin typeface="Calibri"/>
              </a:rPr>
              <a:t>Step 5</a:t>
            </a:r>
          </a:p>
        </p:txBody>
      </p:sp>
      <p:sp>
        <p:nvSpPr>
          <p:cNvPr id="44" name="sp44"/>
          <p:cNvSpPr>
            <a:spLocks noGrp="1"/>
          </p:cNvSpPr>
          <p:nvPr/>
        </p:nvSpPr>
        <p:spPr>
          <a:xfrm>
            <a:off x="6830568" y="1170432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200" dirty="0" b="1">
                <a:solidFill>
                  <a:srgbClr val="FFFFFF"/>
                </a:solidFill>
                <a:latin typeface="Calibri"/>
              </a:rPr>
              <a:t>Resolution
Agent</a:t>
            </a:r>
          </a:p>
        </p:txBody>
      </p:sp>
      <p:sp>
        <p:nvSpPr>
          <p:cNvPr id="45" name="sp45"/>
          <p:cNvSpPr>
            <a:spLocks noGrp="1"/>
          </p:cNvSpPr>
          <p:nvPr/>
        </p:nvSpPr>
        <p:spPr>
          <a:xfrm>
            <a:off x="6830568" y="1627632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Ranked remediation steps</a:t>
            </a:r>
          </a:p>
        </p:txBody>
      </p:sp>
      <p:sp>
        <p:nvSpPr>
          <p:cNvPr id="46" name="sp46"/>
          <p:cNvSpPr>
            <a:spLocks noGrp="1"/>
          </p:cNvSpPr>
          <p:nvPr/>
        </p:nvSpPr>
        <p:spPr>
          <a:xfrm>
            <a:off x="6830568" y="202996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References historical fixes</a:t>
            </a:r>
          </a:p>
        </p:txBody>
      </p:sp>
      <p:sp>
        <p:nvSpPr>
          <p:cNvPr id="47" name="sp47"/>
          <p:cNvSpPr>
            <a:spLocks noGrp="1"/>
          </p:cNvSpPr>
          <p:nvPr/>
        </p:nvSpPr>
        <p:spPr>
          <a:xfrm>
            <a:off x="6830568" y="2432304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Escalation recommendation</a:t>
            </a:r>
          </a:p>
        </p:txBody>
      </p:sp>
      <p:sp>
        <p:nvSpPr>
          <p:cNvPr id="48" name="sp48"/>
          <p:cNvSpPr>
            <a:spLocks noGrp="1"/>
          </p:cNvSpPr>
          <p:nvPr/>
        </p:nvSpPr>
        <p:spPr>
          <a:xfrm>
            <a:off x="6830568" y="283464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Estimates resolution time (mins)</a:t>
            </a:r>
          </a:p>
        </p:txBody>
      </p:sp>
      <p:sp>
        <p:nvSpPr>
          <p:cNvPr id="49" name="sp49"/>
          <p:cNvSpPr>
            <a:spLocks noGrp="1"/>
          </p:cNvSpPr>
          <p:nvPr/>
        </p:nvSpPr>
        <p:spPr>
          <a:xfrm>
            <a:off x="6830568" y="3236976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900" dirty="0">
                <a:solidFill>
                  <a:srgbClr val="F1F5F9"/>
                </a:solidFill>
                <a:latin typeface="Calibri"/>
              </a:rPr>
              <a:t>• 7-step generic fallback if 0 results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3"/>
          <p:cNvSpPr>
            <a:spLocks noGrp="1"/>
          </p:cNvSpPr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4"/>
          <p:cNvSpPr>
            <a:spLocks noGrp="1"/>
          </p:cNvSpPr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2400" dirty="0" b="1">
                <a:solidFill>
                  <a:srgbClr val="FFFFFF"/>
                </a:solidFill>
                <a:latin typeface="Calibri"/>
              </a:rPr>
              <a:t>Token Optimization &amp; Input Guardrails</a:t>
            </a:r>
          </a:p>
        </p:txBody>
      </p:sp>
      <p:sp>
        <p:nvSpPr>
          <p:cNvPr id="6" name="rect6"/>
          <p:cNvSpPr>
            <a:spLocks noGrp="1"/>
          </p:cNvSpPr>
          <p:nvPr/>
        </p:nvSpPr>
        <p:spPr>
          <a:xfrm>
            <a:off x="274320" y="822960"/>
            <a:ext cx="384048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txBody>
          <a:bodyPr/>
          <a:lstStyle/>
          <a:p/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457200" y="86868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400" dirty="0" b="1">
                <a:solidFill>
                  <a:srgbClr val="EAB308"/>
                </a:solidFill>
                <a:latin typeface="Calibri"/>
              </a:rPr>
              <a:t>Token Optimizer  (token_optimizer.py)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457200" y="1353312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EAB308"/>
                </a:solidFill>
                <a:latin typeface="Calibri"/>
              </a:rPr>
              <a:t>Library:</a:t>
            </a:r>
          </a:p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1600200" y="1353312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tiktoken — cl100k_base encoding</a:t>
            </a:r>
          </a:p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457200" y="170992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EAB308"/>
                </a:solidFill>
                <a:latin typeface="Calibri"/>
              </a:rPr>
              <a:t>Budget:</a:t>
            </a:r>
          </a:p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1600200" y="1709928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2500 tokens per agent context window</a:t>
            </a:r>
          </a:p>
        </p:txBody>
      </p:sp>
      <p:sp>
        <p:nvSpPr>
          <p:cNvPr id="12" name="sp12"/>
          <p:cNvSpPr>
            <a:spLocks noGrp="1"/>
          </p:cNvSpPr>
          <p:nvPr/>
        </p:nvSpPr>
        <p:spPr>
          <a:xfrm>
            <a:off x="457200" y="2066543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EAB308"/>
                </a:solidFill>
                <a:latin typeface="Calibri"/>
              </a:rPr>
              <a:t>Fallback:</a:t>
            </a:r>
          </a:p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1600200" y="2066543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4 chars/token estimate if tiktoken unavailable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457200" y="2423160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EAB308"/>
                </a:solidFill>
                <a:latin typeface="Calibri"/>
              </a:rPr>
              <a:t>Method:</a:t>
            </a:r>
          </a:p>
        </p:txBody>
      </p:sp>
      <p:sp>
        <p:nvSpPr>
          <p:cNvPr id="15" name="sp15"/>
          <p:cNvSpPr>
            <a:spLocks noGrp="1"/>
          </p:cNvSpPr>
          <p:nvPr/>
        </p:nvSpPr>
        <p:spPr>
          <a:xfrm>
            <a:off x="1600200" y="2423160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truncate_to_tokens() — exact token boundary cut</a:t>
            </a:r>
          </a:p>
        </p:txBody>
      </p:sp>
      <p:sp>
        <p:nvSpPr>
          <p:cNvPr id="16" name="sp16"/>
          <p:cNvSpPr>
            <a:spLocks noGrp="1"/>
          </p:cNvSpPr>
          <p:nvPr/>
        </p:nvSpPr>
        <p:spPr>
          <a:xfrm>
            <a:off x="457200" y="2779776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EAB308"/>
                </a:solidFill>
                <a:latin typeface="Calibri"/>
              </a:rPr>
              <a:t>Purpose:</a:t>
            </a:r>
          </a:p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1600200" y="2779776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Prevent LLM context overflow / truncation errors</a:t>
            </a:r>
          </a:p>
        </p:txBody>
      </p:sp>
      <p:sp>
        <p:nvSpPr>
          <p:cNvPr id="18" name="sp18"/>
          <p:cNvSpPr>
            <a:spLocks noGrp="1"/>
          </p:cNvSpPr>
          <p:nvPr/>
        </p:nvSpPr>
        <p:spPr>
          <a:xfrm>
            <a:off x="457200" y="3136392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EAB308"/>
                </a:solidFill>
                <a:latin typeface="Calibri"/>
              </a:rPr>
              <a:t>Stats:</a:t>
            </a:r>
          </a:p>
        </p:txBody>
      </p:sp>
      <p:sp>
        <p:nvSpPr>
          <p:cNvPr id="19" name="sp19"/>
          <p:cNvSpPr>
            <a:spLocks noGrp="1"/>
          </p:cNvSpPr>
          <p:nvPr/>
        </p:nvSpPr>
        <p:spPr>
          <a:xfrm>
            <a:off x="1600200" y="3136392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token_usage dict returned in every API response</a:t>
            </a:r>
          </a:p>
        </p:txBody>
      </p:sp>
      <p:sp>
        <p:nvSpPr>
          <p:cNvPr id="20" name="sp20"/>
          <p:cNvSpPr>
            <a:spLocks noGrp="1"/>
          </p:cNvSpPr>
          <p:nvPr/>
        </p:nvSpPr>
        <p:spPr>
          <a:xfrm>
            <a:off x="457200" y="349300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EAB308"/>
                </a:solidFill>
                <a:latin typeface="Calibri"/>
              </a:rPr>
              <a:t>Scope:</a:t>
            </a:r>
          </a:p>
        </p:txBody>
      </p:sp>
      <p:sp>
        <p:nvSpPr>
          <p:cNvPr id="21" name="sp21"/>
          <p:cNvSpPr>
            <a:spLocks noGrp="1"/>
          </p:cNvSpPr>
          <p:nvPr/>
        </p:nvSpPr>
        <p:spPr>
          <a:xfrm>
            <a:off x="1600200" y="3493008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Separate budget tracked per agent call</a:t>
            </a:r>
          </a:p>
        </p:txBody>
      </p:sp>
      <p:sp>
        <p:nvSpPr>
          <p:cNvPr id="22" name="rect22"/>
          <p:cNvSpPr>
            <a:spLocks noGrp="1"/>
          </p:cNvSpPr>
          <p:nvPr/>
        </p:nvSpPr>
        <p:spPr>
          <a:xfrm>
            <a:off x="4251960" y="822960"/>
            <a:ext cx="43434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txBody>
          <a:bodyPr/>
          <a:lstStyle/>
          <a:p/>
        </p:txBody>
      </p:sp>
      <p:sp>
        <p:nvSpPr>
          <p:cNvPr id="23" name="sp23"/>
          <p:cNvSpPr>
            <a:spLocks noGrp="1"/>
          </p:cNvSpPr>
          <p:nvPr/>
        </p:nvSpPr>
        <p:spPr>
          <a:xfrm>
            <a:off x="4434840" y="868680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400" dirty="0" b="1">
                <a:solidFill>
                  <a:srgbClr val="EF4444"/>
                </a:solidFill>
                <a:latin typeface="Calibri"/>
              </a:rPr>
              <a:t>Input Guardrails  (guardrails.py)</a:t>
            </a:r>
          </a:p>
        </p:txBody>
      </p:sp>
      <p:sp>
        <p:nvSpPr>
          <p:cNvPr id="24" name="sp24"/>
          <p:cNvSpPr>
            <a:spLocks noGrp="1"/>
          </p:cNvSpPr>
          <p:nvPr/>
        </p:nvSpPr>
        <p:spPr>
          <a:xfrm>
            <a:off x="4434840" y="135331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EF4444"/>
                </a:solidFill>
                <a:latin typeface="Calibri"/>
              </a:rPr>
              <a:t>Min length:</a:t>
            </a:r>
          </a:p>
        </p:txBody>
      </p:sp>
      <p:sp>
        <p:nvSpPr>
          <p:cNvPr id="25" name="sp25"/>
          <p:cNvSpPr>
            <a:spLocks noGrp="1"/>
          </p:cNvSpPr>
          <p:nvPr/>
        </p:nvSpPr>
        <p:spPr>
          <a:xfrm>
            <a:off x="5669280" y="135331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3 characters</a:t>
            </a:r>
          </a:p>
        </p:txBody>
      </p:sp>
      <p:sp>
        <p:nvSpPr>
          <p:cNvPr id="26" name="sp26"/>
          <p:cNvSpPr>
            <a:spLocks noGrp="1"/>
          </p:cNvSpPr>
          <p:nvPr/>
        </p:nvSpPr>
        <p:spPr>
          <a:xfrm>
            <a:off x="4434840" y="1700784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EF4444"/>
                </a:solidFill>
                <a:latin typeface="Calibri"/>
              </a:rPr>
              <a:t>Max length:</a:t>
            </a:r>
          </a:p>
        </p:txBody>
      </p:sp>
      <p:sp>
        <p:nvSpPr>
          <p:cNvPr id="27" name="sp27"/>
          <p:cNvSpPr>
            <a:spLocks noGrp="1"/>
          </p:cNvSpPr>
          <p:nvPr/>
        </p:nvSpPr>
        <p:spPr>
          <a:xfrm>
            <a:off x="5669280" y="170078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2000 characters</a:t>
            </a:r>
          </a:p>
        </p:txBody>
      </p:sp>
      <p:sp>
        <p:nvSpPr>
          <p:cNvPr id="28" name="sp28"/>
          <p:cNvSpPr>
            <a:spLocks noGrp="1"/>
          </p:cNvSpPr>
          <p:nvPr/>
        </p:nvSpPr>
        <p:spPr>
          <a:xfrm>
            <a:off x="4434840" y="2048256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EF4444"/>
                </a:solidFill>
                <a:latin typeface="Calibri"/>
              </a:rPr>
              <a:t>Empty check:</a:t>
            </a:r>
          </a:p>
        </p:txBody>
      </p:sp>
      <p:sp>
        <p:nvSpPr>
          <p:cNvPr id="29" name="sp29"/>
          <p:cNvSpPr>
            <a:spLocks noGrp="1"/>
          </p:cNvSpPr>
          <p:nvPr/>
        </p:nvSpPr>
        <p:spPr>
          <a:xfrm>
            <a:off x="5669280" y="204825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Rejects blank or whitespace-only queries</a:t>
            </a:r>
          </a:p>
        </p:txBody>
      </p:sp>
      <p:sp>
        <p:nvSpPr>
          <p:cNvPr id="30" name="sp30"/>
          <p:cNvSpPr>
            <a:spLocks noGrp="1"/>
          </p:cNvSpPr>
          <p:nvPr/>
        </p:nvSpPr>
        <p:spPr>
          <a:xfrm>
            <a:off x="4434840" y="239572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EF4444"/>
                </a:solidFill>
                <a:latin typeface="Calibri"/>
              </a:rPr>
              <a:t>Injection:</a:t>
            </a:r>
          </a:p>
        </p:txBody>
      </p:sp>
      <p:sp>
        <p:nvSpPr>
          <p:cNvPr id="31" name="sp31"/>
          <p:cNvSpPr>
            <a:spLocks noGrp="1"/>
          </p:cNvSpPr>
          <p:nvPr/>
        </p:nvSpPr>
        <p:spPr>
          <a:xfrm>
            <a:off x="5669280" y="239572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14 compiled regex patterns</a:t>
            </a:r>
          </a:p>
        </p:txBody>
      </p:sp>
      <p:sp>
        <p:nvSpPr>
          <p:cNvPr id="32" name="sp32"/>
          <p:cNvSpPr>
            <a:spLocks noGrp="1"/>
          </p:cNvSpPr>
          <p:nvPr/>
        </p:nvSpPr>
        <p:spPr>
          <a:xfrm>
            <a:off x="4434840" y="27432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b="1">
                <a:solidFill>
                  <a:srgbClr val="EF4444"/>
                </a:solidFill>
                <a:latin typeface="Calibri"/>
              </a:rPr>
              <a:t>Sanitize:</a:t>
            </a:r>
          </a:p>
        </p:txBody>
      </p:sp>
      <p:sp>
        <p:nvSpPr>
          <p:cNvPr id="33" name="sp33"/>
          <p:cNvSpPr>
            <a:spLocks noGrp="1"/>
          </p:cNvSpPr>
          <p:nvPr/>
        </p:nvSpPr>
        <p:spPr>
          <a:xfrm>
            <a:off x="5669280" y="27432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Strip dangerous chars, normalise whitespace</a:t>
            </a:r>
          </a:p>
        </p:txBody>
      </p:sp>
      <p:sp>
        <p:nvSpPr>
          <p:cNvPr id="34" name="sp34"/>
          <p:cNvSpPr>
            <a:spLocks noGrp="1"/>
          </p:cNvSpPr>
          <p:nvPr/>
        </p:nvSpPr>
        <p:spPr>
          <a:xfrm>
            <a:off x="4434840" y="3154680"/>
            <a:ext cx="3977639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 i="1">
                <a:solidFill>
                  <a:srgbClr val="94A3B8"/>
                </a:solidFill>
                <a:latin typeface="Calibri"/>
              </a:rPr>
              <a:t>Patterns blocked (examples):</a:t>
            </a:r>
          </a:p>
        </p:txBody>
      </p:sp>
      <p:sp>
        <p:nvSpPr>
          <p:cNvPr id="35" name="sp35"/>
          <p:cNvSpPr>
            <a:spLocks noGrp="1"/>
          </p:cNvSpPr>
          <p:nvPr/>
        </p:nvSpPr>
        <p:spPr>
          <a:xfrm>
            <a:off x="4434840" y="3493008"/>
            <a:ext cx="397763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EF4444"/>
                </a:solidFill>
                <a:latin typeface="Calibri"/>
              </a:rPr>
              <a:t>  x  "ignore all previous instructions"</a:t>
            </a:r>
          </a:p>
        </p:txBody>
      </p:sp>
      <p:sp>
        <p:nvSpPr>
          <p:cNvPr id="36" name="sp36"/>
          <p:cNvSpPr>
            <a:spLocks noGrp="1"/>
          </p:cNvSpPr>
          <p:nvPr/>
        </p:nvSpPr>
        <p:spPr>
          <a:xfrm>
            <a:off x="4434840" y="3694176"/>
            <a:ext cx="397763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97316"/>
                </a:solidFill>
                <a:latin typeface="Calibri"/>
              </a:rPr>
              <a:t>  x  "you are now / act as / pretend to be"</a:t>
            </a:r>
          </a:p>
        </p:txBody>
      </p:sp>
      <p:sp>
        <p:nvSpPr>
          <p:cNvPr id="37" name="sp37"/>
          <p:cNvSpPr>
            <a:spLocks noGrp="1"/>
          </p:cNvSpPr>
          <p:nvPr/>
        </p:nvSpPr>
        <p:spPr>
          <a:xfrm>
            <a:off x="4434840" y="3895344"/>
            <a:ext cx="397763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EF4444"/>
                </a:solidFill>
                <a:latin typeface="Calibri"/>
              </a:rPr>
              <a:t>  x  "override your instructions/rules"</a:t>
            </a:r>
          </a:p>
        </p:txBody>
      </p:sp>
      <p:sp>
        <p:nvSpPr>
          <p:cNvPr id="38" name="sp38"/>
          <p:cNvSpPr>
            <a:spLocks noGrp="1"/>
          </p:cNvSpPr>
          <p:nvPr/>
        </p:nvSpPr>
        <p:spPr>
          <a:xfrm>
            <a:off x="4434840" y="4096511"/>
            <a:ext cx="397763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97316"/>
                </a:solidFill>
                <a:latin typeface="Calibri"/>
              </a:rPr>
              <a:t>  x  "jailbreak" / "DAN mode"</a:t>
            </a:r>
          </a:p>
        </p:txBody>
      </p:sp>
      <p:sp>
        <p:nvSpPr>
          <p:cNvPr id="39" name="sp39"/>
          <p:cNvSpPr>
            <a:spLocks noGrp="1"/>
          </p:cNvSpPr>
          <p:nvPr/>
        </p:nvSpPr>
        <p:spPr>
          <a:xfrm>
            <a:off x="4434840" y="4297680"/>
            <a:ext cx="397763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EF4444"/>
                </a:solidFill>
                <a:latin typeface="Calibri"/>
              </a:rPr>
              <a:t>  x  "{{template}}" injection  /  "&lt;system&gt;" tag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3"/>
          <p:cNvSpPr>
            <a:spLocks noGrp="1"/>
          </p:cNvSpPr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4"/>
          <p:cNvSpPr>
            <a:spLocks noGrp="1"/>
          </p:cNvSpPr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2400" dirty="0" b="1">
                <a:solidFill>
                  <a:srgbClr val="FFFFFF"/>
                </a:solidFill>
                <a:latin typeface="Calibri"/>
              </a:rPr>
              <a:t>Frontend &amp; Technology Stack</a:t>
            </a:r>
          </a:p>
        </p:txBody>
      </p:sp>
      <p:sp>
        <p:nvSpPr>
          <p:cNvPr id="6" name="rect6"/>
          <p:cNvSpPr>
            <a:spLocks noGrp="1"/>
          </p:cNvSpPr>
          <p:nvPr/>
        </p:nvSpPr>
        <p:spPr>
          <a:xfrm>
            <a:off x="274320" y="804672"/>
            <a:ext cx="3886200" cy="3749039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411480" y="850392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300" dirty="0" b="1">
                <a:solidFill>
                  <a:srgbClr val="3B82F6"/>
                </a:solidFill>
                <a:latin typeface="Calibri"/>
              </a:rPr>
              <a:t>React Frontend (Dark Theme SPA)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411480" y="128016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Framework:</a:t>
            </a:r>
          </a:p>
        </p:txBody>
      </p:sp>
      <p:sp>
        <p:nvSpPr>
          <p:cNvPr id="9" name="sp9"/>
          <p:cNvSpPr>
            <a:spLocks noGrp="1"/>
          </p:cNvSpPr>
          <p:nvPr/>
        </p:nvSpPr>
        <p:spPr>
          <a:xfrm>
            <a:off x="1508760" y="1280160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React 18 + Vite</a:t>
            </a:r>
          </a:p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411480" y="15819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Styling:</a:t>
            </a:r>
          </a:p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1508760" y="158191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Tailwind CSS  (slate dark palette)</a:t>
            </a:r>
          </a:p>
        </p:txBody>
      </p:sp>
      <p:sp>
        <p:nvSpPr>
          <p:cNvPr id="12" name="sp12"/>
          <p:cNvSpPr>
            <a:spLocks noGrp="1"/>
          </p:cNvSpPr>
          <p:nvPr/>
        </p:nvSpPr>
        <p:spPr>
          <a:xfrm>
            <a:off x="411480" y="1883664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Charts:</a:t>
            </a:r>
          </a:p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1508760" y="1883664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Recharts — ProbableCausesChart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411480" y="2185415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HTTP client:</a:t>
            </a:r>
          </a:p>
        </p:txBody>
      </p:sp>
      <p:sp>
        <p:nvSpPr>
          <p:cNvPr id="15" name="sp15"/>
          <p:cNvSpPr>
            <a:spLocks noGrp="1"/>
          </p:cNvSpPr>
          <p:nvPr/>
        </p:nvSpPr>
        <p:spPr>
          <a:xfrm>
            <a:off x="1508760" y="2185415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Axios</a:t>
            </a:r>
          </a:p>
        </p:txBody>
      </p:sp>
      <p:sp>
        <p:nvSpPr>
          <p:cNvPr id="16" name="sp16"/>
          <p:cNvSpPr>
            <a:spLocks noGrp="1"/>
          </p:cNvSpPr>
          <p:nvPr/>
        </p:nvSpPr>
        <p:spPr>
          <a:xfrm>
            <a:off x="411480" y="248716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Icons:</a:t>
            </a:r>
          </a:p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1508760" y="2487168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react-icons (Feather set)</a:t>
            </a:r>
          </a:p>
        </p:txBody>
      </p:sp>
      <p:sp>
        <p:nvSpPr>
          <p:cNvPr id="18" name="rect18"/>
          <p:cNvSpPr>
            <a:spLocks noGrp="1"/>
          </p:cNvSpPr>
          <p:nvPr/>
        </p:nvSpPr>
        <p:spPr>
          <a:xfrm>
            <a:off x="411480" y="2816352"/>
            <a:ext cx="361188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p19"/>
          <p:cNvSpPr>
            <a:spLocks noGrp="1"/>
          </p:cNvSpPr>
          <p:nvPr/>
        </p:nvSpPr>
        <p:spPr>
          <a:xfrm>
            <a:off x="411480" y="2871216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200" dirty="0" b="1">
                <a:solidFill>
                  <a:srgbClr val="06B6D4"/>
                </a:solidFill>
                <a:latin typeface="Calibri"/>
              </a:rPr>
              <a:t>UI Panels</a:t>
            </a:r>
          </a:p>
        </p:txBody>
      </p:sp>
      <p:sp>
        <p:nvSpPr>
          <p:cNvPr id="20" name="sp20"/>
          <p:cNvSpPr>
            <a:spLocks noGrp="1"/>
          </p:cNvSpPr>
          <p:nvPr/>
        </p:nvSpPr>
        <p:spPr>
          <a:xfrm>
            <a:off x="411480" y="320040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• QueryPanel    — 8 sample incidents, 4 filters, textarea</a:t>
            </a:r>
          </a:p>
        </p:txBody>
      </p:sp>
      <p:sp>
        <p:nvSpPr>
          <p:cNvPr id="21" name="sp21"/>
          <p:cNvSpPr>
            <a:spLocks noGrp="1"/>
          </p:cNvSpPr>
          <p:nvPr/>
        </p:nvSpPr>
        <p:spPr>
          <a:xfrm>
            <a:off x="411480" y="346557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• ResultsPanel  — KPI cards, probable causes chart, evidence table</a:t>
            </a:r>
          </a:p>
        </p:txBody>
      </p:sp>
      <p:sp>
        <p:nvSpPr>
          <p:cNvPr id="22" name="sp22"/>
          <p:cNvSpPr>
            <a:spLocks noGrp="1"/>
          </p:cNvSpPr>
          <p:nvPr/>
        </p:nvSpPr>
        <p:spPr>
          <a:xfrm>
            <a:off x="411480" y="37307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• Dashboard     — fault statistics, outage metrics, top alarms</a:t>
            </a:r>
          </a:p>
        </p:txBody>
      </p:sp>
      <p:sp>
        <p:nvSpPr>
          <p:cNvPr id="23" name="sp23"/>
          <p:cNvSpPr>
            <a:spLocks noGrp="1"/>
          </p:cNvSpPr>
          <p:nvPr/>
        </p:nvSpPr>
        <p:spPr>
          <a:xfrm>
            <a:off x="411480" y="399592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• PredictivePanel — risk scores by region / technology / vendor</a:t>
            </a:r>
          </a:p>
        </p:txBody>
      </p:sp>
      <p:sp>
        <p:nvSpPr>
          <p:cNvPr id="24" name="sp24"/>
          <p:cNvSpPr>
            <a:spLocks noGrp="1"/>
          </p:cNvSpPr>
          <p:nvPr/>
        </p:nvSpPr>
        <p:spPr>
          <a:xfrm>
            <a:off x="411480" y="426110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• IncidentDetails — modal with full incident info &amp; match score</a:t>
            </a:r>
          </a:p>
        </p:txBody>
      </p:sp>
      <p:sp>
        <p:nvSpPr>
          <p:cNvPr id="25" name="rect25"/>
          <p:cNvSpPr>
            <a:spLocks noGrp="1"/>
          </p:cNvSpPr>
          <p:nvPr/>
        </p:nvSpPr>
        <p:spPr>
          <a:xfrm>
            <a:off x="4297680" y="804672"/>
            <a:ext cx="4251960" cy="3749039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6" name="sp26"/>
          <p:cNvSpPr>
            <a:spLocks noGrp="1"/>
          </p:cNvSpPr>
          <p:nvPr/>
        </p:nvSpPr>
        <p:spPr>
          <a:xfrm>
            <a:off x="4434840" y="850392"/>
            <a:ext cx="3977639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300" dirty="0" b="1">
                <a:solidFill>
                  <a:srgbClr val="22C55E"/>
                </a:solidFill>
                <a:latin typeface="Calibri"/>
              </a:rPr>
              <a:t>Backend &amp; Infrastructure</a:t>
            </a:r>
          </a:p>
        </p:txBody>
      </p:sp>
      <p:sp>
        <p:nvSpPr>
          <p:cNvPr id="27" name="sp27"/>
          <p:cNvSpPr>
            <a:spLocks noGrp="1"/>
          </p:cNvSpPr>
          <p:nvPr/>
        </p:nvSpPr>
        <p:spPr>
          <a:xfrm>
            <a:off x="4434840" y="1280160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Framework:</a:t>
            </a:r>
          </a:p>
        </p:txBody>
      </p:sp>
      <p:sp>
        <p:nvSpPr>
          <p:cNvPr id="28" name="sp28"/>
          <p:cNvSpPr>
            <a:spLocks noGrp="1"/>
          </p:cNvSpPr>
          <p:nvPr/>
        </p:nvSpPr>
        <p:spPr>
          <a:xfrm>
            <a:off x="5806440" y="128016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FastAPI  (Python 3.10+)</a:t>
            </a:r>
          </a:p>
        </p:txBody>
      </p:sp>
      <p:sp>
        <p:nvSpPr>
          <p:cNvPr id="29" name="sp29"/>
          <p:cNvSpPr>
            <a:spLocks noGrp="1"/>
          </p:cNvSpPr>
          <p:nvPr/>
        </p:nvSpPr>
        <p:spPr>
          <a:xfrm>
            <a:off x="4434840" y="158191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Validation:</a:t>
            </a:r>
          </a:p>
        </p:txBody>
      </p:sp>
      <p:sp>
        <p:nvSpPr>
          <p:cNvPr id="30" name="sp30"/>
          <p:cNvSpPr>
            <a:spLocks noGrp="1"/>
          </p:cNvSpPr>
          <p:nvPr/>
        </p:nvSpPr>
        <p:spPr>
          <a:xfrm>
            <a:off x="5806440" y="158191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Pydantic v2</a:t>
            </a:r>
          </a:p>
        </p:txBody>
      </p:sp>
      <p:sp>
        <p:nvSpPr>
          <p:cNvPr id="31" name="sp31"/>
          <p:cNvSpPr>
            <a:spLocks noGrp="1"/>
          </p:cNvSpPr>
          <p:nvPr/>
        </p:nvSpPr>
        <p:spPr>
          <a:xfrm>
            <a:off x="4434840" y="1883664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LLM:</a:t>
            </a:r>
          </a:p>
        </p:txBody>
      </p:sp>
      <p:sp>
        <p:nvSpPr>
          <p:cNvPr id="32" name="sp32"/>
          <p:cNvSpPr>
            <a:spLocks noGrp="1"/>
          </p:cNvSpPr>
          <p:nvPr/>
        </p:nvSpPr>
        <p:spPr>
          <a:xfrm>
            <a:off x="5806440" y="188366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OpenAI GPT-4 / GPT-3.5-turbo</a:t>
            </a:r>
          </a:p>
        </p:txBody>
      </p:sp>
      <p:sp>
        <p:nvSpPr>
          <p:cNvPr id="33" name="sp33"/>
          <p:cNvSpPr>
            <a:spLocks noGrp="1"/>
          </p:cNvSpPr>
          <p:nvPr/>
        </p:nvSpPr>
        <p:spPr>
          <a:xfrm>
            <a:off x="4434840" y="2185415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Embeddings:</a:t>
            </a:r>
          </a:p>
        </p:txBody>
      </p:sp>
      <p:sp>
        <p:nvSpPr>
          <p:cNvPr id="34" name="sp34"/>
          <p:cNvSpPr>
            <a:spLocks noGrp="1"/>
          </p:cNvSpPr>
          <p:nvPr/>
        </p:nvSpPr>
        <p:spPr>
          <a:xfrm>
            <a:off x="5806440" y="2185415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OpenAI text-embedding-3-small</a:t>
            </a:r>
          </a:p>
        </p:txBody>
      </p:sp>
      <p:sp>
        <p:nvSpPr>
          <p:cNvPr id="35" name="sp35"/>
          <p:cNvSpPr>
            <a:spLocks noGrp="1"/>
          </p:cNvSpPr>
          <p:nvPr/>
        </p:nvSpPr>
        <p:spPr>
          <a:xfrm>
            <a:off x="4434840" y="2487168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Vector DB:</a:t>
            </a:r>
          </a:p>
        </p:txBody>
      </p:sp>
      <p:sp>
        <p:nvSpPr>
          <p:cNvPr id="36" name="sp36"/>
          <p:cNvSpPr>
            <a:spLocks noGrp="1"/>
          </p:cNvSpPr>
          <p:nvPr/>
        </p:nvSpPr>
        <p:spPr>
          <a:xfrm>
            <a:off x="5806440" y="248716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ChromaDB — local SQLite, no cloud key</a:t>
            </a:r>
          </a:p>
        </p:txBody>
      </p:sp>
      <p:sp>
        <p:nvSpPr>
          <p:cNvPr id="37" name="sp37"/>
          <p:cNvSpPr>
            <a:spLocks noGrp="1"/>
          </p:cNvSpPr>
          <p:nvPr/>
        </p:nvSpPr>
        <p:spPr>
          <a:xfrm>
            <a:off x="4434840" y="2788920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Keyword:</a:t>
            </a:r>
          </a:p>
        </p:txBody>
      </p:sp>
      <p:sp>
        <p:nvSpPr>
          <p:cNvPr id="38" name="sp38"/>
          <p:cNvSpPr>
            <a:spLocks noGrp="1"/>
          </p:cNvSpPr>
          <p:nvPr/>
        </p:nvSpPr>
        <p:spPr>
          <a:xfrm>
            <a:off x="5806440" y="278892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rank_bm25  (Okapi BM25)</a:t>
            </a:r>
          </a:p>
        </p:txBody>
      </p:sp>
      <p:sp>
        <p:nvSpPr>
          <p:cNvPr id="39" name="sp39"/>
          <p:cNvSpPr>
            <a:spLocks noGrp="1"/>
          </p:cNvSpPr>
          <p:nvPr/>
        </p:nvSpPr>
        <p:spPr>
          <a:xfrm>
            <a:off x="4434840" y="309067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Tokens:</a:t>
            </a:r>
          </a:p>
        </p:txBody>
      </p:sp>
      <p:sp>
        <p:nvSpPr>
          <p:cNvPr id="40" name="sp40"/>
          <p:cNvSpPr>
            <a:spLocks noGrp="1"/>
          </p:cNvSpPr>
          <p:nvPr/>
        </p:nvSpPr>
        <p:spPr>
          <a:xfrm>
            <a:off x="5806440" y="30906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tiktoken  (cl100k_base)</a:t>
            </a:r>
          </a:p>
        </p:txBody>
      </p:sp>
      <p:sp>
        <p:nvSpPr>
          <p:cNvPr id="41" name="sp41"/>
          <p:cNvSpPr>
            <a:spLocks noGrp="1"/>
          </p:cNvSpPr>
          <p:nvPr/>
        </p:nvSpPr>
        <p:spPr>
          <a:xfrm>
            <a:off x="4434840" y="3392424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Numerics:</a:t>
            </a:r>
          </a:p>
        </p:txBody>
      </p:sp>
      <p:sp>
        <p:nvSpPr>
          <p:cNvPr id="42" name="sp42"/>
          <p:cNvSpPr>
            <a:spLocks noGrp="1"/>
          </p:cNvSpPr>
          <p:nvPr/>
        </p:nvSpPr>
        <p:spPr>
          <a:xfrm>
            <a:off x="5806440" y="339242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numpy + pandas</a:t>
            </a:r>
          </a:p>
        </p:txBody>
      </p:sp>
      <p:sp>
        <p:nvSpPr>
          <p:cNvPr id="43" name="sp43"/>
          <p:cNvSpPr>
            <a:spLocks noGrp="1"/>
          </p:cNvSpPr>
          <p:nvPr/>
        </p:nvSpPr>
        <p:spPr>
          <a:xfrm>
            <a:off x="4434840" y="369417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Evaluation:</a:t>
            </a:r>
          </a:p>
        </p:txBody>
      </p:sp>
      <p:sp>
        <p:nvSpPr>
          <p:cNvPr id="44" name="sp44"/>
          <p:cNvSpPr>
            <a:spLocks noGrp="1"/>
          </p:cNvSpPr>
          <p:nvPr/>
        </p:nvSpPr>
        <p:spPr>
          <a:xfrm>
            <a:off x="5806440" y="369417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DeepEval — relevancy + faithfulness</a:t>
            </a:r>
          </a:p>
        </p:txBody>
      </p:sp>
      <p:sp>
        <p:nvSpPr>
          <p:cNvPr id="45" name="sp45"/>
          <p:cNvSpPr>
            <a:spLocks noGrp="1"/>
          </p:cNvSpPr>
          <p:nvPr/>
        </p:nvSpPr>
        <p:spPr>
          <a:xfrm>
            <a:off x="4434840" y="3995928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 b="1">
                <a:solidFill>
                  <a:srgbClr val="94A3B8"/>
                </a:solidFill>
                <a:latin typeface="Calibri"/>
              </a:rPr>
              <a:t>Server:</a:t>
            </a:r>
          </a:p>
        </p:txBody>
      </p:sp>
      <p:sp>
        <p:nvSpPr>
          <p:cNvPr id="46" name="sp46"/>
          <p:cNvSpPr>
            <a:spLocks noGrp="1"/>
          </p:cNvSpPr>
          <p:nvPr/>
        </p:nvSpPr>
        <p:spPr>
          <a:xfrm>
            <a:off x="5806440" y="399592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000" dirty="0">
                <a:solidFill>
                  <a:srgbClr val="F1F5F9"/>
                </a:solidFill>
                <a:latin typeface="Calibri"/>
              </a:rPr>
              <a:t>uvicorn</a:t>
            </a:r>
          </a:p>
        </p:txBody>
      </p:sp>
      <p:sp>
        <p:nvSpPr>
          <p:cNvPr id="47" name="rect47"/>
          <p:cNvSpPr>
            <a:spLocks noGrp="1"/>
          </p:cNvSpPr>
          <p:nvPr/>
        </p:nvSpPr>
        <p:spPr>
          <a:xfrm>
            <a:off x="274320" y="4636008"/>
            <a:ext cx="827532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48" name="sp48"/>
          <p:cNvSpPr>
            <a:spLocks noGrp="1"/>
          </p:cNvSpPr>
          <p:nvPr/>
        </p:nvSpPr>
        <p:spPr>
          <a:xfrm>
            <a:off x="365760" y="4636008"/>
            <a:ext cx="8092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insFav="0"/>
          <a:lstStyle/>
          <a:p>
            <a:pPr algn="ctr"/>
            <a:r>
              <a:rPr lang="en-US" sz="1100" dirty="0" b="1">
                <a:solidFill>
                  <a:srgbClr val="3B82F6"/>
                </a:solidFill>
                <a:latin typeface="Calibri"/>
              </a:rPr>
              <a:t>POST /api/v1/query    GET /api/v1/dashboard/metrics    GET /api/v1/predict/{region}    GET /api/v1/health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3"/>
          <p:cNvSpPr>
            <a:spLocks noGrp="1"/>
          </p:cNvSpPr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4"/>
          <p:cNvSpPr>
            <a:spLocks noGrp="1"/>
          </p:cNvSpPr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p5"/>
          <p:cNvSpPr>
            <a:spLocks noGrp="1"/>
          </p:cNvSpPr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2600" dirty="0" b="1">
                <a:solidFill>
                  <a:srgbClr val="FFFFFF"/>
                </a:solidFill>
                <a:latin typeface="Calibri"/>
              </a:rPr>
              <a:t>System Summary &amp; Key Capabilities</a:t>
            </a:r>
          </a:p>
        </p:txBody>
      </p:sp>
      <p:sp>
        <p:nvSpPr>
          <p:cNvPr id="6" name="rect6"/>
          <p:cNvSpPr>
            <a:spLocks noGrp="1"/>
          </p:cNvSpPr>
          <p:nvPr/>
        </p:nvSpPr>
        <p:spPr>
          <a:xfrm>
            <a:off x="274320" y="868680"/>
            <a:ext cx="4069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7" name="sp7"/>
          <p:cNvSpPr>
            <a:spLocks noGrp="1"/>
          </p:cNvSpPr>
          <p:nvPr/>
        </p:nvSpPr>
        <p:spPr>
          <a:xfrm>
            <a:off x="411480" y="941832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3B82F6"/>
                </a:solidFill>
                <a:latin typeface="Calibri"/>
              </a:rPr>
              <a:t>Hybrid RAG Pipeline</a:t>
            </a:r>
          </a:p>
        </p:txBody>
      </p:sp>
      <p:sp>
        <p:nvSpPr>
          <p:cNvPr id="8" name="sp8"/>
          <p:cNvSpPr>
            <a:spLocks noGrp="1"/>
          </p:cNvSpPr>
          <p:nvPr/>
        </p:nvSpPr>
        <p:spPr>
          <a:xfrm>
            <a:off x="411480" y="1325880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BM25 + vector + RRF + embedding reranker for precision retrieval</a:t>
            </a:r>
          </a:p>
        </p:txBody>
      </p:sp>
      <p:sp>
        <p:nvSpPr>
          <p:cNvPr id="9" name="rect9"/>
          <p:cNvSpPr>
            <a:spLocks noGrp="1"/>
          </p:cNvSpPr>
          <p:nvPr/>
        </p:nvSpPr>
        <p:spPr>
          <a:xfrm>
            <a:off x="4526280" y="868680"/>
            <a:ext cx="4069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txBody>
          <a:bodyPr/>
          <a:lstStyle/>
          <a:p/>
        </p:txBody>
      </p:sp>
      <p:sp>
        <p:nvSpPr>
          <p:cNvPr id="10" name="sp10"/>
          <p:cNvSpPr>
            <a:spLocks noGrp="1"/>
          </p:cNvSpPr>
          <p:nvPr/>
        </p:nvSpPr>
        <p:spPr>
          <a:xfrm>
            <a:off x="4663440" y="941832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06B6D4"/>
                </a:solidFill>
                <a:latin typeface="Calibri"/>
              </a:rPr>
              <a:t>Multi-Agent Workflow</a:t>
            </a:r>
          </a:p>
        </p:txBody>
      </p:sp>
      <p:sp>
        <p:nvSpPr>
          <p:cNvPr id="11" name="sp11"/>
          <p:cNvSpPr>
            <a:spLocks noGrp="1"/>
          </p:cNvSpPr>
          <p:nvPr/>
        </p:nvSpPr>
        <p:spPr>
          <a:xfrm>
            <a:off x="4663440" y="1325880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5 agents over A2A bus with escalation paths and cascade detection</a:t>
            </a:r>
          </a:p>
        </p:txBody>
      </p:sp>
      <p:sp>
        <p:nvSpPr>
          <p:cNvPr id="12" name="rect12"/>
          <p:cNvSpPr>
            <a:spLocks noGrp="1"/>
          </p:cNvSpPr>
          <p:nvPr/>
        </p:nvSpPr>
        <p:spPr>
          <a:xfrm>
            <a:off x="274320" y="1874519"/>
            <a:ext cx="4069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13" name="sp13"/>
          <p:cNvSpPr>
            <a:spLocks noGrp="1"/>
          </p:cNvSpPr>
          <p:nvPr/>
        </p:nvSpPr>
        <p:spPr>
          <a:xfrm>
            <a:off x="411480" y="1947671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F97316"/>
                </a:solidFill>
                <a:latin typeface="Calibri"/>
              </a:rPr>
              <a:t>Zero-Incident Handling</a:t>
            </a:r>
          </a:p>
        </p:txBody>
      </p:sp>
      <p:sp>
        <p:nvSpPr>
          <p:cNvPr id="14" name="sp14"/>
          <p:cNvSpPr>
            <a:spLocks noGrp="1"/>
          </p:cNvSpPr>
          <p:nvPr/>
        </p:nvSpPr>
        <p:spPr>
          <a:xfrm>
            <a:off x="411480" y="2331719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Graceful defaults: 0% confidence, UNKNOWN priority, N/A on all KPI cards</a:t>
            </a:r>
          </a:p>
        </p:txBody>
      </p:sp>
      <p:sp>
        <p:nvSpPr>
          <p:cNvPr id="15" name="rect15"/>
          <p:cNvSpPr>
            <a:spLocks noGrp="1"/>
          </p:cNvSpPr>
          <p:nvPr/>
        </p:nvSpPr>
        <p:spPr>
          <a:xfrm>
            <a:off x="4526280" y="1874519"/>
            <a:ext cx="4069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16" name="sp16"/>
          <p:cNvSpPr>
            <a:spLocks noGrp="1"/>
          </p:cNvSpPr>
          <p:nvPr/>
        </p:nvSpPr>
        <p:spPr>
          <a:xfrm>
            <a:off x="4663440" y="1947671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22C55E"/>
                </a:solidFill>
                <a:latin typeface="Calibri"/>
              </a:rPr>
              <a:t>Dual Operating Mode</a:t>
            </a:r>
          </a:p>
        </p:txBody>
      </p:sp>
      <p:sp>
        <p:nvSpPr>
          <p:cNvPr id="17" name="sp17"/>
          <p:cNvSpPr>
            <a:spLocks noGrp="1"/>
          </p:cNvSpPr>
          <p:nvPr/>
        </p:nvSpPr>
        <p:spPr>
          <a:xfrm>
            <a:off x="4663440" y="2331719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Full GPT-4 AI mode OR offline BM25 fallback — identical JSON output</a:t>
            </a:r>
          </a:p>
        </p:txBody>
      </p:sp>
      <p:sp>
        <p:nvSpPr>
          <p:cNvPr id="18" name="rect18"/>
          <p:cNvSpPr>
            <a:spLocks noGrp="1"/>
          </p:cNvSpPr>
          <p:nvPr/>
        </p:nvSpPr>
        <p:spPr>
          <a:xfrm>
            <a:off x="274320" y="2880360"/>
            <a:ext cx="4069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txBody>
          <a:bodyPr/>
          <a:lstStyle/>
          <a:p/>
        </p:txBody>
      </p:sp>
      <p:sp>
        <p:nvSpPr>
          <p:cNvPr id="19" name="sp19"/>
          <p:cNvSpPr>
            <a:spLocks noGrp="1"/>
          </p:cNvSpPr>
          <p:nvPr/>
        </p:nvSpPr>
        <p:spPr>
          <a:xfrm>
            <a:off x="411480" y="2953512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EAB308"/>
                </a:solidFill>
                <a:latin typeface="Calibri"/>
              </a:rPr>
              <a:t>Token Optimization</a:t>
            </a:r>
          </a:p>
        </p:txBody>
      </p:sp>
      <p:sp>
        <p:nvSpPr>
          <p:cNvPr id="20" name="sp20"/>
          <p:cNvSpPr>
            <a:spLocks noGrp="1"/>
          </p:cNvSpPr>
          <p:nvPr/>
        </p:nvSpPr>
        <p:spPr>
          <a:xfrm>
            <a:off x="411480" y="3337560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tiktoken 2500-token budgets prevent LLM context overflow per agent</a:t>
            </a:r>
          </a:p>
        </p:txBody>
      </p:sp>
      <p:sp>
        <p:nvSpPr>
          <p:cNvPr id="21" name="rect21"/>
          <p:cNvSpPr>
            <a:spLocks noGrp="1"/>
          </p:cNvSpPr>
          <p:nvPr/>
        </p:nvSpPr>
        <p:spPr>
          <a:xfrm>
            <a:off x="4526280" y="2880360"/>
            <a:ext cx="4069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txBody>
          <a:bodyPr/>
          <a:lstStyle/>
          <a:p/>
        </p:txBody>
      </p:sp>
      <p:sp>
        <p:nvSpPr>
          <p:cNvPr id="22" name="sp22"/>
          <p:cNvSpPr>
            <a:spLocks noGrp="1"/>
          </p:cNvSpPr>
          <p:nvPr/>
        </p:nvSpPr>
        <p:spPr>
          <a:xfrm>
            <a:off x="4663440" y="2953512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EF4444"/>
                </a:solidFill>
                <a:latin typeface="Calibri"/>
              </a:rPr>
              <a:t>Input Guardrails</a:t>
            </a:r>
          </a:p>
        </p:txBody>
      </p:sp>
      <p:sp>
        <p:nvSpPr>
          <p:cNvPr id="23" name="sp23"/>
          <p:cNvSpPr>
            <a:spLocks noGrp="1"/>
          </p:cNvSpPr>
          <p:nvPr/>
        </p:nvSpPr>
        <p:spPr>
          <a:xfrm>
            <a:off x="4663440" y="3337560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14-pattern prompt injection detection + sanitization before processing</a:t>
            </a:r>
          </a:p>
        </p:txBody>
      </p:sp>
      <p:sp>
        <p:nvSpPr>
          <p:cNvPr id="24" name="rect24"/>
          <p:cNvSpPr>
            <a:spLocks noGrp="1"/>
          </p:cNvSpPr>
          <p:nvPr/>
        </p:nvSpPr>
        <p:spPr>
          <a:xfrm>
            <a:off x="274320" y="3886200"/>
            <a:ext cx="4069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txBody>
          <a:bodyPr/>
          <a:lstStyle/>
          <a:p/>
        </p:txBody>
      </p:sp>
      <p:sp>
        <p:nvSpPr>
          <p:cNvPr id="25" name="sp25"/>
          <p:cNvSpPr>
            <a:spLocks noGrp="1"/>
          </p:cNvSpPr>
          <p:nvPr/>
        </p:nvSpPr>
        <p:spPr>
          <a:xfrm>
            <a:off x="411480" y="3959352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06B6D4"/>
                </a:solidFill>
                <a:latin typeface="Calibri"/>
              </a:rPr>
              <a:t>Predictive Intelligence</a:t>
            </a:r>
          </a:p>
        </p:txBody>
      </p:sp>
      <p:sp>
        <p:nvSpPr>
          <p:cNvPr id="26" name="sp26"/>
          <p:cNvSpPr>
            <a:spLocks noGrp="1"/>
          </p:cNvSpPr>
          <p:nvPr/>
        </p:nvSpPr>
        <p:spPr>
          <a:xfrm>
            <a:off x="411480" y="4343400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Statistical risk scoring by region/tech/vendor — no ML service required</a:t>
            </a:r>
          </a:p>
        </p:txBody>
      </p:sp>
      <p:sp>
        <p:nvSpPr>
          <p:cNvPr id="27" name="rect27"/>
          <p:cNvSpPr>
            <a:spLocks noGrp="1"/>
          </p:cNvSpPr>
          <p:nvPr/>
        </p:nvSpPr>
        <p:spPr>
          <a:xfrm>
            <a:off x="4526280" y="3886200"/>
            <a:ext cx="4069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8" name="sp28"/>
          <p:cNvSpPr>
            <a:spLocks noGrp="1"/>
          </p:cNvSpPr>
          <p:nvPr/>
        </p:nvSpPr>
        <p:spPr>
          <a:xfrm>
            <a:off x="4663440" y="3959352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300" dirty="0" b="1">
                <a:solidFill>
                  <a:srgbClr val="22C55E"/>
                </a:solidFill>
                <a:latin typeface="Calibri"/>
              </a:rPr>
              <a:t>Production Stack</a:t>
            </a:r>
          </a:p>
        </p:txBody>
      </p:sp>
      <p:sp>
        <p:nvSpPr>
          <p:cNvPr id="29" name="sp29"/>
          <p:cNvSpPr>
            <a:spLocks noGrp="1"/>
          </p:cNvSpPr>
          <p:nvPr/>
        </p:nvSpPr>
        <p:spPr>
          <a:xfrm>
            <a:off x="4663440" y="4343400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alibri"/>
              </a:rPr>
              <a:t>FastAPI + React 18 + Vite + Tailwind + ChromaDB + DeepEval evaluation</a:t>
            </a:r>
          </a:p>
        </p:txBody>
      </p:sp>
      <p:sp>
        <p:nvSpPr>
          <p:cNvPr id="30" name="sp30"/>
          <p:cNvSpPr>
            <a:spLocks noGrp="1"/>
          </p:cNvSpPr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insFav="0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Calibri"/>
              </a:rPr>
              <a:t>github.com/suganya1290-ops/Telecom_fault_Intelligence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lecomDark">
  <a:themeElements>
    <a:clrScheme name="TelecomDark">
      <a:dk1>
        <a:srgbClr val="0F172A"/>
      </a:dk1>
      <a:lt1>
        <a:srgbClr val="F1F5F9"/>
      </a:lt1>
      <a:dk2>
        <a:srgbClr val="1E293B"/>
      </a:dk2>
      <a:lt2>
        <a:srgbClr val="E2E8F0"/>
      </a:lt2>
      <a:accent1>
        <a:srgbClr val="3B82F6"/>
      </a:accent1>
      <a:accent2>
        <a:srgbClr val="06B6D4"/>
      </a:accent2>
      <a:accent3>
        <a:srgbClr val="22C55E"/>
      </a:accent3>
      <a:accent4>
        <a:srgbClr val="EAB308"/>
      </a:accent4>
      <a:accent5>
        <a:srgbClr val="F97316"/>
      </a:accent5>
      <a:accent6>
        <a:srgbClr val="EF4444"/>
      </a:accent6>
      <a:hlink>
        <a:srgbClr val="3B82F6"/>
      </a:hlink>
      <a:folHlink>
        <a:srgbClr val="06B6D4"/>
      </a:folHlink>
    </a:clrScheme>
    <a:fontScheme name="TelecomDark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/>
  </a:themeElements>
</a:theme>
</file>